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304" r:id="rId6"/>
    <p:sldId id="264" r:id="rId7"/>
    <p:sldId id="295" r:id="rId8"/>
    <p:sldId id="296" r:id="rId9"/>
    <p:sldId id="297" r:id="rId10"/>
    <p:sldId id="303" r:id="rId11"/>
    <p:sldId id="305" r:id="rId12"/>
    <p:sldId id="306" r:id="rId13"/>
    <p:sldId id="311" r:id="rId14"/>
    <p:sldId id="313" r:id="rId15"/>
    <p:sldId id="314" r:id="rId16"/>
    <p:sldId id="315" r:id="rId17"/>
    <p:sldId id="316" r:id="rId18"/>
    <p:sldId id="317" r:id="rId19"/>
    <p:sldId id="318" r:id="rId20"/>
    <p:sldId id="298" r:id="rId21"/>
    <p:sldId id="299" r:id="rId22"/>
    <p:sldId id="300" r:id="rId23"/>
    <p:sldId id="307" r:id="rId24"/>
    <p:sldId id="308" r:id="rId25"/>
    <p:sldId id="309" r:id="rId26"/>
    <p:sldId id="319" r:id="rId27"/>
    <p:sldId id="301" r:id="rId28"/>
    <p:sldId id="29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5FADAE-08FC-458C-A103-43F022BEE2B0}" v="21" dt="2024-09-12T14:04:34.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5033" autoAdjust="0"/>
  </p:normalViewPr>
  <p:slideViewPr>
    <p:cSldViewPr snapToGrid="0">
      <p:cViewPr varScale="1">
        <p:scale>
          <a:sx n="69" d="100"/>
          <a:sy n="69" d="100"/>
        </p:scale>
        <p:origin x="78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 Type="http://schemas.openxmlformats.org/officeDocument/2006/relationships/customXml" Target="../customXml/item2.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 Type="http://schemas.openxmlformats.org/officeDocument/2006/relationships/customXml" Target="../customXml/item3.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5/10/relationships/revisionInfo" Target="revisionInfo.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40F8BC-FC38-4C54-B52C-6D75F8B078EE}" type="datetimeFigureOut">
              <a:rPr lang="en-IN" smtClean="0"/>
              <a:t>02-05-2025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05A6C-AB21-4569-B73B-0EF6FECD7E70}" type="slidenum">
              <a:rPr lang="en-IN" smtClean="0"/>
              <a:t>‹#›</a:t>
            </a:fld>
            <a:endParaRPr lang="en-IN"/>
          </a:p>
        </p:txBody>
      </p:sp>
    </p:spTree>
    <p:extLst>
      <p:ext uri="{BB962C8B-B14F-4D97-AF65-F5344CB8AC3E}">
        <p14:creationId xmlns:p14="http://schemas.microsoft.com/office/powerpoint/2010/main" val="3014481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A93A-CD38-EC6C-A8AA-C135874F2B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1E0559-9ED9-27DE-C6C1-B78D2C785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54FB6F-FA56-00B9-0DA3-DAAD248B2BA1}"/>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D2BD8CDA-E57B-C290-D2C3-F70EBACF25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2A16BE-6A13-458C-2446-EE33439AA0CC}"/>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417514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9476-81A6-17D9-7E5A-8C0B6F4C80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63C0D4-758C-B236-300D-E636241922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868B16-495D-A0D4-715A-9AFA27FB75F2}"/>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3C061A3B-FB70-E767-8213-C0F81AB176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83BA36-6A59-4C45-E558-FB7A8A33C34F}"/>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132603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F44D-54CB-B5C5-5EFB-573B1264F5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172BC5-CE47-6DA8-FBDF-FBDCF60E09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29E9C1-AD96-5B4A-0157-0B5AB7357402}"/>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9E8DAFFC-5CC6-4366-ED41-2DD1331C0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837F94-1038-E885-2EC4-7DE1B8952986}"/>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064109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0830-F620-2BB3-FB98-C49CF9D9B6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A1F773-D111-AF90-3D71-E7AC7539E0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FC6272-C875-6762-4FBA-B050EC0DA0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92693B-2C58-3AAF-762E-B1FA8FC2F596}"/>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6" name="Footer Placeholder 5">
            <a:extLst>
              <a:ext uri="{FF2B5EF4-FFF2-40B4-BE49-F238E27FC236}">
                <a16:creationId xmlns:a16="http://schemas.microsoft.com/office/drawing/2014/main" id="{37A08B76-D3B0-711B-3836-E7B9869C28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EE1390-73B9-912F-9428-1647A6AE23FC}"/>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11933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49D61-906A-B601-179C-4148649687D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BD3968-ED53-C3B7-450B-48F93BBC0D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439995-55AF-EBCE-ED2C-741766B42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8D339A-D4B0-2C4C-A4B7-96CDC8F9B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71E810-78EF-991E-E7A1-B8744B9100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C14373-76DB-65B3-9995-4FF23A011019}"/>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8" name="Footer Placeholder 7">
            <a:extLst>
              <a:ext uri="{FF2B5EF4-FFF2-40B4-BE49-F238E27FC236}">
                <a16:creationId xmlns:a16="http://schemas.microsoft.com/office/drawing/2014/main" id="{D8BA2DB0-9237-99BC-12C8-E4BA1BB660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8FC1F7-D056-DF6A-ABAF-499046D0CAB1}"/>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60755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D124-8D8A-20EF-E9D9-E958B0C1BA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F940F1-189F-48D9-FBB0-C67B974D51BD}"/>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4" name="Footer Placeholder 3">
            <a:extLst>
              <a:ext uri="{FF2B5EF4-FFF2-40B4-BE49-F238E27FC236}">
                <a16:creationId xmlns:a16="http://schemas.microsoft.com/office/drawing/2014/main" id="{60D96C54-675A-1A67-56ED-6A86E5FED6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578E70-7BEA-2451-6F59-91C88C574442}"/>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281386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2FA978-838F-B031-6166-F49F3DECE2E2}"/>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3" name="Footer Placeholder 2">
            <a:extLst>
              <a:ext uri="{FF2B5EF4-FFF2-40B4-BE49-F238E27FC236}">
                <a16:creationId xmlns:a16="http://schemas.microsoft.com/office/drawing/2014/main" id="{7593108B-1A92-B199-BE70-4CE960A628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4D51AE-45FA-5D73-AE1A-5AFB2920B3DE}"/>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357130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E916F-B322-7D86-5491-A5F365CF72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B1F8C3-1C79-8786-341A-A602E0FC7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798D-A964-5673-F038-E83032E6E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ABC149-2806-7F32-906E-000C243E8BD5}"/>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6" name="Footer Placeholder 5">
            <a:extLst>
              <a:ext uri="{FF2B5EF4-FFF2-40B4-BE49-F238E27FC236}">
                <a16:creationId xmlns:a16="http://schemas.microsoft.com/office/drawing/2014/main" id="{DFCF5322-4794-0571-E93E-8BCB8D94CF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D4D362-265F-7081-C84B-C283F0BF0FD0}"/>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875970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F841D-D2E8-26AF-50D8-090777D836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68A4BE-53EE-5D4D-2EB4-3FBD637C68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63183B-AFF5-6AA7-4B2C-0AF553EFF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3FCD2F-7751-45CD-EFE7-027E09307A72}"/>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6" name="Footer Placeholder 5">
            <a:extLst>
              <a:ext uri="{FF2B5EF4-FFF2-40B4-BE49-F238E27FC236}">
                <a16:creationId xmlns:a16="http://schemas.microsoft.com/office/drawing/2014/main" id="{EA3426C3-CB44-0A1A-F908-34FFAEF4F8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A8E17-85BD-8191-B925-7E38F0A2A8CE}"/>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3908419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F202-D245-A922-08F1-28A8CD897F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655ED5-A29B-CEA2-2974-3304CE27FB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9B6C3F-A858-1AA2-3C91-3410A17C99D1}"/>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520211CC-5FB2-44AC-E98A-C49C7676E5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E4D8F-3C96-9C11-231D-ADD07FD72B4C}"/>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1572010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316C7B-5C70-E8AC-596F-7D2BB66D13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485B2A-C417-E3C4-CE92-59D07C63CD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E1BDFF-628F-7708-826E-BDA3B7C36396}"/>
              </a:ext>
            </a:extLst>
          </p:cNvPr>
          <p:cNvSpPr>
            <a:spLocks noGrp="1"/>
          </p:cNvSpPr>
          <p:nvPr>
            <p:ph type="dt" sz="half" idx="10"/>
          </p:nvPr>
        </p:nvSpPr>
        <p:spPr/>
        <p:txBody>
          <a:body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8CD1BDE7-02F0-4794-F317-E448FF6C75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EC975-B866-3DD9-CD42-356BFEF19E3E}"/>
              </a:ext>
            </a:extLst>
          </p:cNvPr>
          <p:cNvSpPr>
            <a:spLocks noGrp="1"/>
          </p:cNvSpPr>
          <p:nvPr>
            <p:ph type="sldNum" sz="quarter" idx="12"/>
          </p:nvPr>
        </p:nvSpPr>
        <p:spPr/>
        <p:txBody>
          <a:bodyPr/>
          <a:lstStyle/>
          <a:p>
            <a:fld id="{6ADF6BD6-788B-4237-85AB-869E0C644050}" type="slidenum">
              <a:rPr lang="en-IN" smtClean="0"/>
              <a:pPr/>
              <a:t>‹#›</a:t>
            </a:fld>
            <a:endParaRPr lang="en-IN"/>
          </a:p>
        </p:txBody>
      </p:sp>
    </p:spTree>
    <p:extLst>
      <p:ext uri="{BB962C8B-B14F-4D97-AF65-F5344CB8AC3E}">
        <p14:creationId xmlns:p14="http://schemas.microsoft.com/office/powerpoint/2010/main" val="36447294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4311BA-7FB1-7E5B-6AA1-A6F85FE5B8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47E1B9-622C-C507-AFC7-90D4789993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11A6D4-06D5-FFC8-D95F-895057A62F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D9A5AC-E9C1-43A1-BC89-1ED0FC314FD4}" type="datetimeFigureOut">
              <a:rPr lang="en-IN" smtClean="0"/>
              <a:pPr/>
              <a:t>02-05-2025</a:t>
            </a:fld>
            <a:endParaRPr lang="en-IN"/>
          </a:p>
        </p:txBody>
      </p:sp>
      <p:sp>
        <p:nvSpPr>
          <p:cNvPr id="5" name="Footer Placeholder 4">
            <a:extLst>
              <a:ext uri="{FF2B5EF4-FFF2-40B4-BE49-F238E27FC236}">
                <a16:creationId xmlns:a16="http://schemas.microsoft.com/office/drawing/2014/main" id="{4D4B50C8-1519-E2BD-371B-2EE6911C1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02AFAE-9128-D564-921A-4911C5CBDF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F6BD6-788B-4237-85AB-869E0C644050}" type="slidenum">
              <a:rPr lang="en-IN" smtClean="0"/>
              <a:pPr/>
              <a:t>‹#›</a:t>
            </a:fld>
            <a:endParaRPr lang="en-IN"/>
          </a:p>
        </p:txBody>
      </p:sp>
    </p:spTree>
    <p:extLst>
      <p:ext uri="{BB962C8B-B14F-4D97-AF65-F5344CB8AC3E}">
        <p14:creationId xmlns:p14="http://schemas.microsoft.com/office/powerpoint/2010/main" val="141852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 Id="rId3"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FFC2B-D5E5-F2D5-7167-9E97BDCCE48F}"/>
              </a:ext>
            </a:extLst>
          </p:cNvPr>
          <p:cNvSpPr>
            <a:spLocks noGrp="1"/>
          </p:cNvSpPr>
          <p:nvPr>
            <p:ph type="ctrTitle"/>
          </p:nvPr>
        </p:nvSpPr>
        <p:spPr>
          <a:xfrm>
            <a:off x="1524000" y="1968200"/>
            <a:ext cx="9144000" cy="1135218"/>
          </a:xfrm>
        </p:spPr>
        <p:txBody>
          <a:bodyPr>
            <a:noAutofit/>
          </a:bodyPr>
          <a:lstStyle/>
          <a:p>
            <a:pPr marL="87630" algn="ctr">
              <a:spcBef>
                <a:spcPts val="1020"/>
              </a:spcBef>
              <a:spcAft>
                <a:spcPts val="0"/>
              </a:spcAft>
            </a:pPr>
            <a:r>
              <a:rPr lang="en-IN" sz="5400" b="1" dirty="0">
                <a:effectLst/>
                <a:latin typeface="Times New Roman" panose="02020603050405020304" pitchFamily="18" charset="0"/>
                <a:ea typeface="Cambria" panose="02040503050406030204" pitchFamily="18" charset="0"/>
                <a:cs typeface="Times New Roman" panose="02020603050405020304" pitchFamily="18" charset="0"/>
              </a:rPr>
              <a:t>Business Contract Validation</a:t>
            </a:r>
          </a:p>
        </p:txBody>
      </p:sp>
      <p:sp>
        <p:nvSpPr>
          <p:cNvPr id="3" name="Subtitle 2">
            <a:extLst>
              <a:ext uri="{FF2B5EF4-FFF2-40B4-BE49-F238E27FC236}">
                <a16:creationId xmlns:a16="http://schemas.microsoft.com/office/drawing/2014/main" id="{FB2C66B4-1D30-7086-C850-4372FB416605}"/>
              </a:ext>
            </a:extLst>
          </p:cNvPr>
          <p:cNvSpPr>
            <a:spLocks noGrp="1"/>
          </p:cNvSpPr>
          <p:nvPr>
            <p:ph type="subTitle" idx="1"/>
          </p:nvPr>
        </p:nvSpPr>
        <p:spPr>
          <a:xfrm>
            <a:off x="2160104" y="3509963"/>
            <a:ext cx="7951305" cy="2273988"/>
          </a:xfrm>
        </p:spPr>
        <p:txBody>
          <a:bodyPr vert="horz" lIns="91440" tIns="45720" rIns="91440" bIns="45720" rtlCol="0" anchor="t">
            <a:normAutofit/>
          </a:bodyPr>
          <a:lstStyle/>
          <a:p>
            <a:endParaRPr lang="en-US" dirty="0">
              <a:latin typeface="Cambria"/>
              <a:ea typeface="Cambria"/>
            </a:endParaRPr>
          </a:p>
          <a:p>
            <a:r>
              <a:rPr lang="en-US" dirty="0">
                <a:latin typeface="Cambria"/>
                <a:ea typeface="Cambria"/>
              </a:rPr>
              <a:t>Prepared By: Ms. Kanan P Patel(12102080601054)</a:t>
            </a:r>
          </a:p>
          <a:p>
            <a:endParaRPr lang="en-US" dirty="0">
              <a:latin typeface="Cambria"/>
              <a:ea typeface="Cambria"/>
            </a:endParaRPr>
          </a:p>
          <a:p>
            <a:r>
              <a:rPr lang="en-US" dirty="0">
                <a:latin typeface="Cambria"/>
                <a:ea typeface="Cambria"/>
              </a:rPr>
              <a:t>Guided By: Prof </a:t>
            </a:r>
            <a:r>
              <a:rPr lang="en-US" dirty="0" err="1">
                <a:latin typeface="Cambria"/>
                <a:ea typeface="Cambria"/>
              </a:rPr>
              <a:t>Hemanshu</a:t>
            </a:r>
            <a:r>
              <a:rPr lang="en-US" dirty="0">
                <a:latin typeface="Cambria"/>
                <a:ea typeface="Cambria"/>
              </a:rPr>
              <a:t> Patel</a:t>
            </a:r>
            <a:endParaRPr lang="en-US" dirty="0">
              <a:cs typeface="Calibri"/>
            </a:endParaRPr>
          </a:p>
        </p:txBody>
      </p:sp>
      <p:sp>
        <p:nvSpPr>
          <p:cNvPr id="5" name="Subtitle 2">
            <a:extLst>
              <a:ext uri="{FF2B5EF4-FFF2-40B4-BE49-F238E27FC236}">
                <a16:creationId xmlns:a16="http://schemas.microsoft.com/office/drawing/2014/main" id="{4D92A68C-4C3E-4706-8C91-B98B4F29C99A}"/>
              </a:ext>
            </a:extLst>
          </p:cNvPr>
          <p:cNvSpPr txBox="1">
            <a:spLocks/>
          </p:cNvSpPr>
          <p:nvPr/>
        </p:nvSpPr>
        <p:spPr>
          <a:xfrm>
            <a:off x="2154353" y="355570"/>
            <a:ext cx="7951305" cy="1612630"/>
          </a:xfrm>
          <a:prstGeom prst="rect">
            <a:avLst/>
          </a:prstGeom>
        </p:spPr>
        <p:txBody>
          <a:bodyPr vert="horz" lIns="91440" tIns="45720" rIns="91440" bIns="45720" rtlCol="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latin typeface="Cambria"/>
              <a:ea typeface="Cambria"/>
            </a:endParaRPr>
          </a:p>
          <a:p>
            <a:r>
              <a:rPr lang="en-US" dirty="0">
                <a:latin typeface="Cambria"/>
                <a:ea typeface="Cambria"/>
              </a:rPr>
              <a:t>ADIT, CVM University</a:t>
            </a:r>
          </a:p>
          <a:p>
            <a:r>
              <a:rPr lang="en-IN" dirty="0"/>
              <a:t>102000801 </a:t>
            </a:r>
            <a:r>
              <a:rPr lang="en-US" dirty="0">
                <a:latin typeface="Cambria"/>
                <a:ea typeface="Cambria"/>
              </a:rPr>
              <a:t> – </a:t>
            </a:r>
            <a:r>
              <a:rPr lang="en-IN" dirty="0"/>
              <a:t>Industrial Internship</a:t>
            </a:r>
            <a:r>
              <a:rPr lang="en-US" dirty="0">
                <a:latin typeface="Cambria"/>
                <a:ea typeface="Cambria"/>
              </a:rPr>
              <a:t> </a:t>
            </a:r>
          </a:p>
          <a:p>
            <a:r>
              <a:rPr lang="en-US" dirty="0">
                <a:latin typeface="Cambria"/>
                <a:ea typeface="Cambria"/>
              </a:rPr>
              <a:t>Semester - 8</a:t>
            </a:r>
          </a:p>
        </p:txBody>
      </p:sp>
    </p:spTree>
    <p:extLst>
      <p:ext uri="{BB962C8B-B14F-4D97-AF65-F5344CB8AC3E}">
        <p14:creationId xmlns:p14="http://schemas.microsoft.com/office/powerpoint/2010/main" val="2088929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F3BA-6EDD-D707-F34F-659EA528AC0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Student  Details</a:t>
            </a:r>
            <a:endParaRPr lang="en-IN" dirty="0"/>
          </a:p>
        </p:txBody>
      </p:sp>
      <p:graphicFrame>
        <p:nvGraphicFramePr>
          <p:cNvPr id="8" name="Table 4">
            <a:extLst>
              <a:ext uri="{FF2B5EF4-FFF2-40B4-BE49-F238E27FC236}">
                <a16:creationId xmlns:a16="http://schemas.microsoft.com/office/drawing/2014/main" id="{9F0BC5A1-CF1E-41ED-F1BF-1F4509F9BE2B}"/>
              </a:ext>
            </a:extLst>
          </p:cNvPr>
          <p:cNvGraphicFramePr>
            <a:graphicFrameLocks noGrp="1"/>
          </p:cNvGraphicFramePr>
          <p:nvPr>
            <p:ph idx="1"/>
            <p:extLst>
              <p:ext uri="{D42A27DB-BD31-4B8C-83A1-F6EECF244321}">
                <p14:modId xmlns:p14="http://schemas.microsoft.com/office/powerpoint/2010/main" val="784579417"/>
              </p:ext>
            </p:extLst>
          </p:nvPr>
        </p:nvGraphicFramePr>
        <p:xfrm>
          <a:off x="838200" y="1825625"/>
          <a:ext cx="10664688" cy="741680"/>
        </p:xfrm>
        <a:graphic>
          <a:graphicData uri="http://schemas.openxmlformats.org/drawingml/2006/table">
            <a:tbl>
              <a:tblPr firstRow="1" bandRow="1">
                <a:tableStyleId>{616DA210-FB5B-4158-B5E0-FEB733F419BA}</a:tableStyleId>
              </a:tblPr>
              <a:tblGrid>
                <a:gridCol w="1096618">
                  <a:extLst>
                    <a:ext uri="{9D8B030D-6E8A-4147-A177-3AD203B41FA5}">
                      <a16:colId xmlns:a16="http://schemas.microsoft.com/office/drawing/2014/main" val="1605300048"/>
                    </a:ext>
                  </a:extLst>
                </a:gridCol>
                <a:gridCol w="2213114">
                  <a:extLst>
                    <a:ext uri="{9D8B030D-6E8A-4147-A177-3AD203B41FA5}">
                      <a16:colId xmlns:a16="http://schemas.microsoft.com/office/drawing/2014/main" val="214191591"/>
                    </a:ext>
                  </a:extLst>
                </a:gridCol>
                <a:gridCol w="2968487">
                  <a:extLst>
                    <a:ext uri="{9D8B030D-6E8A-4147-A177-3AD203B41FA5}">
                      <a16:colId xmlns:a16="http://schemas.microsoft.com/office/drawing/2014/main" val="1395377188"/>
                    </a:ext>
                  </a:extLst>
                </a:gridCol>
                <a:gridCol w="4386469">
                  <a:extLst>
                    <a:ext uri="{9D8B030D-6E8A-4147-A177-3AD203B41FA5}">
                      <a16:colId xmlns:a16="http://schemas.microsoft.com/office/drawing/2014/main" val="2719316261"/>
                    </a:ext>
                  </a:extLst>
                </a:gridCol>
              </a:tblGrid>
              <a:tr h="370840">
                <a:tc>
                  <a:txBody>
                    <a:bodyPr/>
                    <a:lstStyle/>
                    <a:p>
                      <a:pPr algn="ctr"/>
                      <a:r>
                        <a:rPr lang="en-US" dirty="0">
                          <a:latin typeface="Cambria" panose="02040503050406030204" pitchFamily="18" charset="0"/>
                          <a:ea typeface="Cambria" panose="02040503050406030204" pitchFamily="18" charset="0"/>
                        </a:rPr>
                        <a:t>No.</a:t>
                      </a:r>
                      <a:endParaRPr lang="en-IN"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Enrollment No.</a:t>
                      </a:r>
                      <a:endParaRPr lang="en-IN"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Student Name</a:t>
                      </a:r>
                      <a:endParaRPr lang="en-IN"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Role In Project</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812679176"/>
                  </a:ext>
                </a:extLst>
              </a:tr>
              <a:tr h="370840">
                <a:tc>
                  <a:txBody>
                    <a:bodyPr/>
                    <a:lstStyle/>
                    <a:p>
                      <a:pPr algn="ctr"/>
                      <a:r>
                        <a:rPr lang="en-US" dirty="0">
                          <a:latin typeface="Cambria" panose="02040503050406030204" pitchFamily="18" charset="0"/>
                          <a:ea typeface="Cambria" panose="02040503050406030204" pitchFamily="18" charset="0"/>
                        </a:rPr>
                        <a:t>1</a:t>
                      </a:r>
                      <a:endParaRPr lang="en-IN"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12102080601054</a:t>
                      </a:r>
                      <a:endParaRPr lang="en-IN" dirty="0">
                        <a:latin typeface="Cambria" panose="02040503050406030204" pitchFamily="18" charset="0"/>
                        <a:ea typeface="Cambria" panose="02040503050406030204" pitchFamily="18" charset="0"/>
                      </a:endParaRPr>
                    </a:p>
                  </a:txBody>
                  <a:tcPr/>
                </a:tc>
                <a:tc>
                  <a:txBody>
                    <a:bodyPr/>
                    <a:lstStyle/>
                    <a:p>
                      <a:pPr algn="ctr"/>
                      <a:r>
                        <a:rPr lang="en-IN" dirty="0">
                          <a:latin typeface="Cambria" panose="02040503050406030204" pitchFamily="18" charset="0"/>
                          <a:ea typeface="Cambria" panose="02040503050406030204" pitchFamily="18" charset="0"/>
                        </a:rPr>
                        <a:t>Kanan Patel</a:t>
                      </a:r>
                    </a:p>
                  </a:txBody>
                  <a:tcPr/>
                </a:tc>
                <a:tc>
                  <a:txBody>
                    <a:bodyPr/>
                    <a:lstStyle/>
                    <a:p>
                      <a:pPr algn="ctr"/>
                      <a:r>
                        <a:rPr lang="en-US" dirty="0">
                          <a:latin typeface="Cambria" panose="02040503050406030204" pitchFamily="18" charset="0"/>
                          <a:ea typeface="Cambria" panose="02040503050406030204" pitchFamily="18" charset="0"/>
                        </a:rPr>
                        <a:t>Data Science Intern</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851118170"/>
                  </a:ext>
                </a:extLst>
              </a:tr>
            </a:tbl>
          </a:graphicData>
        </a:graphic>
      </p:graphicFrame>
    </p:spTree>
    <p:extLst>
      <p:ext uri="{BB962C8B-B14F-4D97-AF65-F5344CB8AC3E}">
        <p14:creationId xmlns:p14="http://schemas.microsoft.com/office/powerpoint/2010/main" val="998334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US" dirty="0">
                <a:latin typeface="Cambria" panose="02040503050406030204" pitchFamily="18" charset="0"/>
                <a:ea typeface="Cambria" panose="02040503050406030204" pitchFamily="18" charset="0"/>
              </a:rPr>
              <a:t>Index</a:t>
            </a:r>
            <a:endParaRPr lang="en-IN"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908F6D87-CE30-806D-C3B3-83674B1109D1}"/>
              </a:ext>
            </a:extLst>
          </p:cNvPr>
          <p:cNvSpPr>
            <a:spLocks noGrp="1"/>
          </p:cNvSpPr>
          <p:nvPr>
            <p:ph idx="1"/>
          </p:nvPr>
        </p:nvSpPr>
        <p:spPr>
          <a:xfrm>
            <a:off x="838200" y="1470991"/>
            <a:ext cx="10267122" cy="4705972"/>
          </a:xfrm>
        </p:spPr>
        <p:txBody>
          <a:bodyPr vert="horz" lIns="91440" tIns="45720" rIns="91440" bIns="45720" rtlCol="0" anchor="t">
            <a:normAutofit/>
          </a:bodyPr>
          <a:lstStyle/>
          <a:p>
            <a:pPr marL="514350" indent="-514350">
              <a:buFont typeface="+mj-lt"/>
              <a:buAutoNum type="arabicPeriod"/>
            </a:pPr>
            <a:r>
              <a:rPr lang="en-IN" dirty="0"/>
              <a:t>Introduction</a:t>
            </a:r>
            <a:endParaRPr lang="en-US" dirty="0">
              <a:ea typeface="Cambria" panose="02040503050406030204" pitchFamily="18" charset="0"/>
            </a:endParaRPr>
          </a:p>
          <a:p>
            <a:pPr marL="514350" indent="-514350">
              <a:buFont typeface="+mj-lt"/>
              <a:buAutoNum type="arabicPeriod"/>
            </a:pPr>
            <a:r>
              <a:rPr lang="en-IN" dirty="0"/>
              <a:t>Company Overview</a:t>
            </a:r>
          </a:p>
          <a:p>
            <a:pPr marL="514350" indent="-514350">
              <a:buFont typeface="+mj-lt"/>
              <a:buAutoNum type="arabicPeriod"/>
            </a:pPr>
            <a:r>
              <a:rPr lang="en-US" dirty="0">
                <a:latin typeface="Cambria" panose="02040503050406030204" pitchFamily="18" charset="0"/>
                <a:ea typeface="Cambria" panose="02040503050406030204" pitchFamily="18" charset="0"/>
              </a:rPr>
              <a:t>Task Completed During Training Period</a:t>
            </a:r>
            <a:endParaRPr lang="en-US" dirty="0">
              <a:ea typeface="Cambria" panose="02040503050406030204" pitchFamily="18" charset="0"/>
            </a:endParaRPr>
          </a:p>
          <a:p>
            <a:pPr marL="514350" indent="-514350">
              <a:buFont typeface="+mj-lt"/>
              <a:buAutoNum type="arabicPeriod"/>
            </a:pPr>
            <a:r>
              <a:rPr lang="en-IN" dirty="0"/>
              <a:t>Project Overview</a:t>
            </a:r>
            <a:endParaRPr lang="en-US" dirty="0">
              <a:ea typeface="Cambria" panose="02040503050406030204" pitchFamily="18" charset="0"/>
            </a:endParaRPr>
          </a:p>
          <a:p>
            <a:pPr marL="514350" indent="-514350">
              <a:buFont typeface="+mj-lt"/>
              <a:buAutoNum type="arabicPeriod"/>
            </a:pPr>
            <a:r>
              <a:rPr lang="en-IN" dirty="0"/>
              <a:t>Technologies Used</a:t>
            </a:r>
            <a:endParaRPr lang="en-US" dirty="0">
              <a:ea typeface="Cambria" panose="02040503050406030204" pitchFamily="18" charset="0"/>
            </a:endParaRPr>
          </a:p>
          <a:p>
            <a:pPr marL="514350" indent="-514350">
              <a:buFont typeface="+mj-lt"/>
              <a:buAutoNum type="arabicPeriod"/>
            </a:pPr>
            <a:r>
              <a:rPr lang="en-IN" dirty="0"/>
              <a:t>Key Responsibilities</a:t>
            </a:r>
            <a:endParaRPr lang="en-US" dirty="0">
              <a:ea typeface="Cambria" panose="02040503050406030204" pitchFamily="18" charset="0"/>
            </a:endParaRPr>
          </a:p>
          <a:p>
            <a:pPr marL="514350" indent="-514350">
              <a:buFont typeface="+mj-lt"/>
              <a:buAutoNum type="arabicPeriod"/>
            </a:pPr>
            <a:r>
              <a:rPr lang="en-IN" dirty="0"/>
              <a:t>Challenges and Solutions</a:t>
            </a:r>
          </a:p>
          <a:p>
            <a:pPr marL="514350" indent="-514350">
              <a:buFont typeface="+mj-lt"/>
              <a:buAutoNum type="arabicPeriod"/>
            </a:pPr>
            <a:r>
              <a:rPr lang="en-IN" dirty="0"/>
              <a:t>Conclusion and Learnings</a:t>
            </a:r>
            <a:endParaRPr lang="en-US" dirty="0">
              <a:ea typeface="Cambria" panose="02040503050406030204" pitchFamily="18" charset="0"/>
            </a:endParaRPr>
          </a:p>
          <a:p>
            <a:pPr marL="514350" indent="-514350">
              <a:buFont typeface="+mj-lt"/>
              <a:buAutoNum type="arabicPeriod"/>
            </a:pPr>
            <a:endParaRPr lang="en-IN" dirty="0"/>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3583203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Introduction</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p:txBody>
          <a:bodyPr/>
          <a:lstStyle/>
          <a:p>
            <a:r>
              <a:rPr lang="en-IN" b="1" dirty="0"/>
              <a:t>Internship Role:</a:t>
            </a:r>
            <a:r>
              <a:rPr lang="en-IN" dirty="0"/>
              <a:t> Data Science Intern</a:t>
            </a:r>
          </a:p>
          <a:p>
            <a:r>
              <a:rPr lang="en-IN" b="1" dirty="0"/>
              <a:t>Company:</a:t>
            </a:r>
            <a:r>
              <a:rPr lang="en-IN" dirty="0"/>
              <a:t> </a:t>
            </a:r>
            <a:r>
              <a:rPr lang="en-IN" i="1" dirty="0"/>
              <a:t>TECH ELECON PVT LTD</a:t>
            </a:r>
          </a:p>
          <a:p>
            <a:r>
              <a:rPr lang="en-US" b="1" dirty="0"/>
              <a:t>Project:</a:t>
            </a:r>
            <a:r>
              <a:rPr lang="en-US" dirty="0"/>
              <a:t> Business Contract Validation Project</a:t>
            </a:r>
          </a:p>
          <a:p>
            <a:pPr algn="just"/>
            <a:r>
              <a:rPr lang="en-US" b="1" dirty="0"/>
              <a:t>Goal: </a:t>
            </a:r>
            <a:r>
              <a:rPr lang="en-US" dirty="0"/>
              <a:t>The Business Contract Validation project aims to automate the verification of the contract documents using data science techniques. It ensures contract compliance by identifying inconsistencies, missing clauses and potential risks. The project enhances accuracy, reduces manual effort, and improves decision-making in contract management. </a:t>
            </a:r>
          </a:p>
        </p:txBody>
      </p:sp>
    </p:spTree>
    <p:extLst>
      <p:ext uri="{BB962C8B-B14F-4D97-AF65-F5344CB8AC3E}">
        <p14:creationId xmlns:p14="http://schemas.microsoft.com/office/powerpoint/2010/main" val="4102165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Company Overview</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p:txBody>
          <a:bodyPr>
            <a:normAutofit lnSpcReduction="10000"/>
          </a:bodyPr>
          <a:lstStyle/>
          <a:p>
            <a:r>
              <a:rPr lang="en-IN" b="1" dirty="0"/>
              <a:t>Company Name: </a:t>
            </a:r>
            <a:r>
              <a:rPr lang="en-IN" i="1" dirty="0"/>
              <a:t>TECH ELECON PVT LTD</a:t>
            </a:r>
          </a:p>
          <a:p>
            <a:pPr algn="just"/>
            <a:r>
              <a:rPr lang="en-IN" b="1" dirty="0"/>
              <a:t>Contact Person: </a:t>
            </a:r>
            <a:r>
              <a:rPr lang="en-US" dirty="0"/>
              <a:t>Mr. Satyam Raval</a:t>
            </a:r>
          </a:p>
          <a:p>
            <a:pPr algn="just"/>
            <a:r>
              <a:rPr lang="en-US" b="1" dirty="0"/>
              <a:t>Email: </a:t>
            </a:r>
            <a:r>
              <a:rPr lang="en-US" dirty="0"/>
              <a:t>ssraval1@techelecon.com </a:t>
            </a:r>
          </a:p>
          <a:p>
            <a:pPr algn="just"/>
            <a:r>
              <a:rPr lang="en-IN" b="1" dirty="0"/>
              <a:t>Contact no: </a:t>
            </a:r>
            <a:r>
              <a:rPr lang="en-IN" dirty="0"/>
              <a:t>+91 7066207670</a:t>
            </a:r>
            <a:endParaRPr lang="en-IN" b="1" dirty="0"/>
          </a:p>
          <a:p>
            <a:pPr algn="just"/>
            <a:r>
              <a:rPr lang="en-IN" b="1" dirty="0"/>
              <a:t>Introduction:</a:t>
            </a:r>
          </a:p>
          <a:p>
            <a:pPr lvl="1" algn="just">
              <a:lnSpc>
                <a:spcPct val="100000"/>
              </a:lnSpc>
              <a:buFont typeface="Wingdings" panose="05000000000000000000" pitchFamily="2" charset="2"/>
              <a:buChar char="Ø"/>
            </a:pPr>
            <a:r>
              <a:rPr lang="en-US" sz="2000" dirty="0"/>
              <a:t>Tech </a:t>
            </a:r>
            <a:r>
              <a:rPr lang="en-US" sz="2000" dirty="0" err="1"/>
              <a:t>Elecon</a:t>
            </a:r>
            <a:r>
              <a:rPr lang="en-US" sz="2000" dirty="0"/>
              <a:t> Private Limited (TEPL), established in 2012, is the Information Technology division of the </a:t>
            </a:r>
            <a:r>
              <a:rPr lang="en-US" sz="2000" dirty="0" err="1"/>
              <a:t>Elecon</a:t>
            </a:r>
            <a:r>
              <a:rPr lang="en-US" sz="2000" dirty="0"/>
              <a:t> Group, headquartered in Vallabh Vidyanagar, Gujarat, India. With over 25 years of experience in hardware, software, and networking, TEPL offers a comprehensive range of connectivity system integration solutions and services, including high-speed internet, bandwidth on demand, IP VPN, and data storage. The company is committed to delivering innovative IT solutions to meet the evolving needs of its clients. </a:t>
            </a:r>
            <a:endParaRPr lang="en-IN" b="1" dirty="0"/>
          </a:p>
        </p:txBody>
      </p:sp>
    </p:spTree>
    <p:extLst>
      <p:ext uri="{BB962C8B-B14F-4D97-AF65-F5344CB8AC3E}">
        <p14:creationId xmlns:p14="http://schemas.microsoft.com/office/powerpoint/2010/main" val="398856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Project Overview</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p:txBody>
          <a:bodyPr>
            <a:normAutofit/>
          </a:bodyPr>
          <a:lstStyle/>
          <a:p>
            <a:pPr algn="just"/>
            <a:r>
              <a:rPr lang="en-US" b="1" dirty="0"/>
              <a:t>Project –&gt; Business Contract Validation</a:t>
            </a:r>
          </a:p>
          <a:p>
            <a:pPr marL="457200" lvl="1" indent="0" algn="just">
              <a:buNone/>
            </a:pPr>
            <a:r>
              <a:rPr lang="en-US" dirty="0"/>
              <a:t>The Business Contract Validation project aims to automate the verification of contract documents using data science techniques. It ensures contract compliance by detecting inconsistencies, missing clauses, and potential risks. By leveraging Natural Language Processing (NLP) and machine learning, the system enhances accuracy, reduces manual effort, and speeds up contract review. This project provides a scalable solution for efficient contract management, improving decision-making and reducing legal risks.</a:t>
            </a:r>
          </a:p>
          <a:p>
            <a:pPr lvl="1" algn="just"/>
            <a:endParaRPr lang="en-US" dirty="0"/>
          </a:p>
        </p:txBody>
      </p:sp>
    </p:spTree>
    <p:extLst>
      <p:ext uri="{BB962C8B-B14F-4D97-AF65-F5344CB8AC3E}">
        <p14:creationId xmlns:p14="http://schemas.microsoft.com/office/powerpoint/2010/main" val="462687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37CE7-D6A4-85ED-AFB4-E6C156E9FA29}"/>
              </a:ext>
            </a:extLst>
          </p:cNvPr>
          <p:cNvSpPr>
            <a:spLocks noGrp="1"/>
          </p:cNvSpPr>
          <p:nvPr>
            <p:ph type="title"/>
          </p:nvPr>
        </p:nvSpPr>
        <p:spPr/>
        <p:txBody>
          <a:bodyPr/>
          <a:lstStyle/>
          <a:p>
            <a:r>
              <a:rPr lang="en-IN" b="1" dirty="0"/>
              <a:t>Project Overview</a:t>
            </a:r>
            <a:endParaRPr lang="en-IN" dirty="0"/>
          </a:p>
        </p:txBody>
      </p:sp>
      <p:sp>
        <p:nvSpPr>
          <p:cNvPr id="3" name="Content Placeholder 2">
            <a:extLst>
              <a:ext uri="{FF2B5EF4-FFF2-40B4-BE49-F238E27FC236}">
                <a16:creationId xmlns:a16="http://schemas.microsoft.com/office/drawing/2014/main" id="{43ACE09F-D336-32A5-A380-4258F8BA41E5}"/>
              </a:ext>
            </a:extLst>
          </p:cNvPr>
          <p:cNvSpPr>
            <a:spLocks noGrp="1"/>
          </p:cNvSpPr>
          <p:nvPr>
            <p:ph idx="1"/>
          </p:nvPr>
        </p:nvSpPr>
        <p:spPr>
          <a:xfrm>
            <a:off x="838200" y="1690688"/>
            <a:ext cx="10515600" cy="4486275"/>
          </a:xfrm>
        </p:spPr>
        <p:txBody>
          <a:bodyPr>
            <a:normAutofit fontScale="92500" lnSpcReduction="10000"/>
          </a:bodyPr>
          <a:lstStyle/>
          <a:p>
            <a:pPr algn="just"/>
            <a:r>
              <a:rPr lang="en-US" sz="3100" b="1" dirty="0"/>
              <a:t>Characteristics of Business Contract Validation Project:</a:t>
            </a:r>
            <a:endParaRPr lang="en-US" dirty="0"/>
          </a:p>
          <a:p>
            <a:pPr lvl="1" algn="just"/>
            <a:r>
              <a:rPr lang="en-US" dirty="0"/>
              <a:t>Automated Contract Analysis – Uses NLP and machine learning to scan and validate contract documents efficiently.	</a:t>
            </a:r>
          </a:p>
          <a:p>
            <a:pPr lvl="1" algn="just"/>
            <a:r>
              <a:rPr lang="en-US" dirty="0"/>
              <a:t>Error &amp; Inconsistency Detection – Identifies missing clauses, ambiguous terms, and potential compliance risks.	</a:t>
            </a:r>
          </a:p>
          <a:p>
            <a:pPr lvl="1" algn="just"/>
            <a:r>
              <a:rPr lang="en-US" dirty="0"/>
              <a:t>Risk Assessment – Flags legal risks and non-compliance issues to ensure contract integrity.	</a:t>
            </a:r>
          </a:p>
          <a:p>
            <a:pPr lvl="1" algn="just"/>
            <a:r>
              <a:rPr lang="en-US" dirty="0"/>
              <a:t>Scalability – Can be adapted to analyze various contract types across different industries.	</a:t>
            </a:r>
          </a:p>
          <a:p>
            <a:pPr lvl="1" algn="just"/>
            <a:r>
              <a:rPr lang="en-US" dirty="0"/>
              <a:t>User-Friendly Interface – Provides easy-to-understand insights for legal and business teams.	</a:t>
            </a:r>
          </a:p>
          <a:p>
            <a:pPr lvl="1" algn="just"/>
            <a:r>
              <a:rPr lang="en-US" dirty="0"/>
              <a:t>Time &amp; Cost Efficiency – Reduces manual contract review time, lowering operational costs and improving decision-making speed.</a:t>
            </a:r>
          </a:p>
          <a:p>
            <a:pPr algn="just">
              <a:buFont typeface="Arial" panose="020B0604020202020204" pitchFamily="34" charset="0"/>
              <a:buChar char="•"/>
            </a:pPr>
            <a:endParaRPr lang="en-US" b="1" dirty="0"/>
          </a:p>
          <a:p>
            <a:pPr marL="0" indent="0" algn="just">
              <a:buNone/>
            </a:pPr>
            <a:endParaRPr lang="en-US" b="1" dirty="0"/>
          </a:p>
        </p:txBody>
      </p:sp>
    </p:spTree>
    <p:extLst>
      <p:ext uri="{BB962C8B-B14F-4D97-AF65-F5344CB8AC3E}">
        <p14:creationId xmlns:p14="http://schemas.microsoft.com/office/powerpoint/2010/main" val="463072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2985-1704-C5FA-7825-1B2A7E1661B8}"/>
              </a:ext>
            </a:extLst>
          </p:cNvPr>
          <p:cNvSpPr>
            <a:spLocks noGrp="1"/>
          </p:cNvSpPr>
          <p:nvPr>
            <p:ph type="title"/>
          </p:nvPr>
        </p:nvSpPr>
        <p:spPr/>
        <p:txBody>
          <a:bodyPr/>
          <a:lstStyle/>
          <a:p>
            <a:r>
              <a:rPr lang="en-IN" b="1" dirty="0"/>
              <a:t>Project Overview</a:t>
            </a:r>
            <a:endParaRPr lang="en-IN" dirty="0"/>
          </a:p>
        </p:txBody>
      </p:sp>
      <p:sp>
        <p:nvSpPr>
          <p:cNvPr id="3" name="Content Placeholder 2">
            <a:extLst>
              <a:ext uri="{FF2B5EF4-FFF2-40B4-BE49-F238E27FC236}">
                <a16:creationId xmlns:a16="http://schemas.microsoft.com/office/drawing/2014/main" id="{A8AC793A-97D4-005C-6E41-AA9CAC2759E3}"/>
              </a:ext>
            </a:extLst>
          </p:cNvPr>
          <p:cNvSpPr>
            <a:spLocks noGrp="1"/>
          </p:cNvSpPr>
          <p:nvPr>
            <p:ph idx="1"/>
          </p:nvPr>
        </p:nvSpPr>
        <p:spPr/>
        <p:txBody>
          <a:bodyPr>
            <a:normAutofit fontScale="77500" lnSpcReduction="20000"/>
          </a:bodyPr>
          <a:lstStyle/>
          <a:p>
            <a:r>
              <a:rPr lang="en-IN" b="1" dirty="0"/>
              <a:t>Workflow &amp; Technologies Used</a:t>
            </a:r>
          </a:p>
          <a:p>
            <a:pPr marL="457200" lvl="1" indent="0">
              <a:buNone/>
            </a:pPr>
            <a:r>
              <a:rPr lang="en-IN" dirty="0"/>
              <a:t>1. </a:t>
            </a:r>
            <a:r>
              <a:rPr lang="en-IN" b="1" dirty="0"/>
              <a:t>Converting PDFs to Grayscale Images	</a:t>
            </a:r>
          </a:p>
          <a:p>
            <a:pPr marL="914400" lvl="2" indent="0">
              <a:buNone/>
            </a:pPr>
            <a:r>
              <a:rPr lang="en-IN" dirty="0"/>
              <a:t>• Input: Dataset of contract PDFs	</a:t>
            </a:r>
          </a:p>
          <a:p>
            <a:pPr marL="914400" lvl="2" indent="0">
              <a:buNone/>
            </a:pPr>
            <a:r>
              <a:rPr lang="en-IN" dirty="0"/>
              <a:t>•Process: Convert PDF pages into grayscale images	</a:t>
            </a:r>
          </a:p>
          <a:p>
            <a:pPr marL="914400" lvl="2" indent="0">
              <a:buNone/>
            </a:pPr>
            <a:r>
              <a:rPr lang="en-IN" dirty="0"/>
              <a:t>•Technology Used: OpenCV, OS	</a:t>
            </a:r>
          </a:p>
          <a:p>
            <a:pPr marL="914400" lvl="2" indent="0">
              <a:buNone/>
            </a:pPr>
            <a:r>
              <a:rPr lang="en-IN" dirty="0"/>
              <a:t>•Output: Grayscale contract images</a:t>
            </a:r>
          </a:p>
          <a:p>
            <a:pPr marL="457200" lvl="1" indent="0">
              <a:buNone/>
            </a:pPr>
            <a:r>
              <a:rPr lang="en-IN" dirty="0"/>
              <a:t>2. </a:t>
            </a:r>
            <a:r>
              <a:rPr lang="en-IN" b="1" dirty="0"/>
              <a:t>Extracting Text from Images</a:t>
            </a:r>
            <a:r>
              <a:rPr lang="en-IN" dirty="0"/>
              <a:t>	</a:t>
            </a:r>
          </a:p>
          <a:p>
            <a:pPr lvl="2"/>
            <a:r>
              <a:rPr lang="en-IN" dirty="0"/>
              <a:t>Process: Use Optical Character Recognition (OCR) to extract text from grayscale images	</a:t>
            </a:r>
          </a:p>
          <a:p>
            <a:pPr lvl="2"/>
            <a:r>
              <a:rPr lang="en-IN" dirty="0"/>
              <a:t>Technology Used: Tesseract OCR (</a:t>
            </a:r>
            <a:r>
              <a:rPr lang="en-IN" dirty="0" err="1"/>
              <a:t>Pytesseract</a:t>
            </a:r>
            <a:r>
              <a:rPr lang="en-IN" dirty="0"/>
              <a:t>), Python</a:t>
            </a:r>
          </a:p>
          <a:p>
            <a:pPr lvl="2"/>
            <a:r>
              <a:rPr lang="en-IN" dirty="0"/>
              <a:t>Output: Extracted text saved in .txt files</a:t>
            </a:r>
          </a:p>
          <a:p>
            <a:pPr marL="457200" lvl="1" indent="0">
              <a:buNone/>
            </a:pPr>
            <a:r>
              <a:rPr lang="en-IN" dirty="0"/>
              <a:t>3. </a:t>
            </a:r>
            <a:r>
              <a:rPr lang="en-IN" b="1" dirty="0"/>
              <a:t>Segmenting Contract by Headings</a:t>
            </a:r>
            <a:r>
              <a:rPr lang="en-IN" dirty="0"/>
              <a:t>	</a:t>
            </a:r>
          </a:p>
          <a:p>
            <a:pPr lvl="2"/>
            <a:r>
              <a:rPr lang="en-IN" dirty="0"/>
              <a:t>Process: Identify and extract contract sections based on headings	</a:t>
            </a:r>
          </a:p>
          <a:p>
            <a:pPr lvl="2"/>
            <a:r>
              <a:rPr lang="en-IN" dirty="0"/>
              <a:t>Technology Used: Regular Expressions (re library)	</a:t>
            </a:r>
          </a:p>
          <a:p>
            <a:pPr lvl="2"/>
            <a:r>
              <a:rPr lang="en-IN" dirty="0"/>
              <a:t>Output: Segmented contract stored in a .</a:t>
            </a:r>
            <a:r>
              <a:rPr lang="en-IN" dirty="0" err="1"/>
              <a:t>json</a:t>
            </a:r>
            <a:r>
              <a:rPr lang="en-IN" dirty="0"/>
              <a:t> file	</a:t>
            </a:r>
          </a:p>
          <a:p>
            <a:pPr lvl="2"/>
            <a:r>
              <a:rPr lang="en-IN" dirty="0"/>
              <a:t>Example Sections:	</a:t>
            </a:r>
          </a:p>
          <a:p>
            <a:pPr marL="1371600" lvl="3" indent="0">
              <a:buNone/>
            </a:pPr>
            <a:r>
              <a:rPr lang="en-IN" dirty="0"/>
              <a:t>•Scope of Work	</a:t>
            </a:r>
          </a:p>
          <a:p>
            <a:pPr marL="1371600" lvl="3" indent="0">
              <a:buNone/>
            </a:pPr>
            <a:r>
              <a:rPr lang="en-IN" dirty="0"/>
              <a:t>•Payment Terms	</a:t>
            </a:r>
          </a:p>
          <a:p>
            <a:pPr marL="1371600" lvl="3" indent="0">
              <a:buNone/>
            </a:pPr>
            <a:r>
              <a:rPr lang="en-IN" dirty="0"/>
              <a:t>•Liability</a:t>
            </a:r>
          </a:p>
        </p:txBody>
      </p:sp>
    </p:spTree>
    <p:extLst>
      <p:ext uri="{BB962C8B-B14F-4D97-AF65-F5344CB8AC3E}">
        <p14:creationId xmlns:p14="http://schemas.microsoft.com/office/powerpoint/2010/main" val="2232763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E1D3-32EA-B2C1-FA56-0C9E5432A42D}"/>
              </a:ext>
            </a:extLst>
          </p:cNvPr>
          <p:cNvSpPr>
            <a:spLocks noGrp="1"/>
          </p:cNvSpPr>
          <p:nvPr>
            <p:ph type="title"/>
          </p:nvPr>
        </p:nvSpPr>
        <p:spPr/>
        <p:txBody>
          <a:bodyPr/>
          <a:lstStyle/>
          <a:p>
            <a:r>
              <a:rPr lang="en-IN" b="1" dirty="0"/>
              <a:t>Project Overview</a:t>
            </a:r>
            <a:endParaRPr lang="en-IN" dirty="0"/>
          </a:p>
        </p:txBody>
      </p:sp>
      <p:sp>
        <p:nvSpPr>
          <p:cNvPr id="3" name="Content Placeholder 2">
            <a:extLst>
              <a:ext uri="{FF2B5EF4-FFF2-40B4-BE49-F238E27FC236}">
                <a16:creationId xmlns:a16="http://schemas.microsoft.com/office/drawing/2014/main" id="{772B5141-F427-712A-0B2A-7A5696C43C8B}"/>
              </a:ext>
            </a:extLst>
          </p:cNvPr>
          <p:cNvSpPr>
            <a:spLocks noGrp="1"/>
          </p:cNvSpPr>
          <p:nvPr>
            <p:ph idx="1"/>
          </p:nvPr>
        </p:nvSpPr>
        <p:spPr/>
        <p:txBody>
          <a:bodyPr>
            <a:normAutofit/>
          </a:bodyPr>
          <a:lstStyle/>
          <a:p>
            <a:r>
              <a:rPr lang="en-IN" b="1" dirty="0"/>
              <a:t>Workflow &amp; Technologies Used</a:t>
            </a:r>
          </a:p>
          <a:p>
            <a:pPr marL="457200" lvl="1" indent="0">
              <a:buNone/>
            </a:pPr>
            <a:r>
              <a:rPr lang="en-IN" dirty="0"/>
              <a:t>4. </a:t>
            </a:r>
            <a:r>
              <a:rPr lang="en-IN" b="1" dirty="0"/>
              <a:t>Identifying &amp; Extracting Risk Clauses</a:t>
            </a:r>
          </a:p>
          <a:p>
            <a:pPr lvl="2"/>
            <a:r>
              <a:rPr lang="en-IN" dirty="0"/>
              <a:t>Process: Detect specific risk-related clauses from the contract	</a:t>
            </a:r>
          </a:p>
          <a:p>
            <a:pPr lvl="2"/>
            <a:r>
              <a:rPr lang="en-IN" dirty="0"/>
              <a:t>Technology Used: NLP techniques (Regex, Text Analysis)</a:t>
            </a:r>
          </a:p>
          <a:p>
            <a:pPr marL="457200" lvl="1" indent="0">
              <a:buNone/>
            </a:pPr>
            <a:r>
              <a:rPr lang="en-IN" dirty="0"/>
              <a:t>5. </a:t>
            </a:r>
            <a:r>
              <a:rPr lang="en-IN" b="1" dirty="0"/>
              <a:t>AI Model for Contract Validation	</a:t>
            </a:r>
          </a:p>
          <a:p>
            <a:pPr lvl="2"/>
            <a:r>
              <a:rPr lang="en-IN" dirty="0"/>
              <a:t>Process: Use an AI model to validate contract clauses	</a:t>
            </a:r>
          </a:p>
          <a:p>
            <a:pPr lvl="2"/>
            <a:r>
              <a:rPr lang="en-IN" dirty="0"/>
              <a:t>Output: AI-generated paragraph summarizing contract validity</a:t>
            </a:r>
          </a:p>
          <a:p>
            <a:pPr marL="457200" lvl="1" indent="0">
              <a:buNone/>
            </a:pPr>
            <a:r>
              <a:rPr lang="en-IN" dirty="0"/>
              <a:t>6. </a:t>
            </a:r>
            <a:r>
              <a:rPr lang="en-IN" b="1" dirty="0"/>
              <a:t>Visualization of Results</a:t>
            </a:r>
          </a:p>
          <a:p>
            <a:pPr lvl="2"/>
            <a:r>
              <a:rPr lang="en-IN" dirty="0"/>
              <a:t>Process: Display insights using graphs or structured outputs	</a:t>
            </a:r>
          </a:p>
          <a:p>
            <a:pPr lvl="2"/>
            <a:r>
              <a:rPr lang="en-IN" dirty="0"/>
              <a:t>Technology Used: HTML, CSS, </a:t>
            </a:r>
            <a:r>
              <a:rPr lang="en-IN" dirty="0" err="1"/>
              <a:t>Javascript</a:t>
            </a:r>
            <a:endParaRPr lang="en-IN" dirty="0"/>
          </a:p>
        </p:txBody>
      </p:sp>
    </p:spTree>
    <p:extLst>
      <p:ext uri="{BB962C8B-B14F-4D97-AF65-F5344CB8AC3E}">
        <p14:creationId xmlns:p14="http://schemas.microsoft.com/office/powerpoint/2010/main" val="664942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2A4C5-46C2-0682-E9A3-DAA7F1CF8EA1}"/>
              </a:ext>
            </a:extLst>
          </p:cNvPr>
          <p:cNvSpPr>
            <a:spLocks noGrp="1"/>
          </p:cNvSpPr>
          <p:nvPr>
            <p:ph type="title"/>
          </p:nvPr>
        </p:nvSpPr>
        <p:spPr/>
        <p:txBody>
          <a:bodyPr/>
          <a:lstStyle/>
          <a:p>
            <a:r>
              <a:rPr lang="en-US" b="1" spc="-20" dirty="0">
                <a:effectLst/>
                <a:latin typeface="Times New Roman" panose="02020603050405020304" pitchFamily="18" charset="0"/>
                <a:ea typeface="Times New Roman" panose="02020603050405020304" pitchFamily="18" charset="0"/>
              </a:rPr>
              <a:t>System</a:t>
            </a:r>
            <a:r>
              <a:rPr lang="en-US" b="1" spc="-50" dirty="0">
                <a:effectLst/>
                <a:latin typeface="Times New Roman" panose="02020603050405020304" pitchFamily="18" charset="0"/>
                <a:ea typeface="Times New Roman" panose="02020603050405020304" pitchFamily="18" charset="0"/>
              </a:rPr>
              <a:t> </a:t>
            </a:r>
            <a:r>
              <a:rPr lang="en-US" b="1" spc="-20" dirty="0">
                <a:effectLst/>
                <a:latin typeface="Times New Roman" panose="02020603050405020304" pitchFamily="18" charset="0"/>
                <a:ea typeface="Times New Roman" panose="02020603050405020304" pitchFamily="18" charset="0"/>
              </a:rPr>
              <a:t>Architecture</a:t>
            </a:r>
            <a:r>
              <a:rPr lang="en-US" b="1" spc="20" dirty="0">
                <a:effectLst/>
                <a:latin typeface="Times New Roman" panose="02020603050405020304" pitchFamily="18" charset="0"/>
                <a:ea typeface="Times New Roman" panose="02020603050405020304" pitchFamily="18" charset="0"/>
              </a:rPr>
              <a:t> </a:t>
            </a:r>
            <a:r>
              <a:rPr lang="en-US" b="1" spc="-20" dirty="0">
                <a:effectLst/>
                <a:latin typeface="Times New Roman" panose="02020603050405020304" pitchFamily="18" charset="0"/>
                <a:ea typeface="Times New Roman" panose="02020603050405020304" pitchFamily="18" charset="0"/>
              </a:rPr>
              <a:t>Overview</a:t>
            </a:r>
            <a:br>
              <a:rPr lang="en-IN" sz="1800" b="1" spc="0" dirty="0">
                <a:effectLst/>
                <a:latin typeface="Times New Roman" panose="02020603050405020304" pitchFamily="18" charset="0"/>
                <a:ea typeface="Times New Roman" panose="02020603050405020304" pitchFamily="18" charset="0"/>
              </a:rPr>
            </a:br>
            <a:endParaRPr lang="en-IN" dirty="0"/>
          </a:p>
        </p:txBody>
      </p:sp>
      <p:pic>
        <p:nvPicPr>
          <p:cNvPr id="4" name="Image 74">
            <a:extLst>
              <a:ext uri="{FF2B5EF4-FFF2-40B4-BE49-F238E27FC236}">
                <a16:creationId xmlns:a16="http://schemas.microsoft.com/office/drawing/2014/main" id="{4CDEC082-090C-2BC3-6819-763AE83ED28F}"/>
              </a:ext>
            </a:extLst>
          </p:cNvPr>
          <p:cNvPicPr>
            <a:picLocks noGrp="1"/>
          </p:cNvPicPr>
          <p:nvPr>
            <p:ph idx="1"/>
          </p:nvPr>
        </p:nvPicPr>
        <p:blipFill>
          <a:blip r:embed="rId2" cstate="print"/>
          <a:stretch>
            <a:fillRect/>
          </a:stretch>
        </p:blipFill>
        <p:spPr>
          <a:xfrm>
            <a:off x="4627418" y="1825625"/>
            <a:ext cx="3034145" cy="4351338"/>
          </a:xfrm>
          <a:prstGeom prst="rect">
            <a:avLst/>
          </a:prstGeom>
        </p:spPr>
      </p:pic>
    </p:spTree>
    <p:extLst>
      <p:ext uri="{BB962C8B-B14F-4D97-AF65-F5344CB8AC3E}">
        <p14:creationId xmlns:p14="http://schemas.microsoft.com/office/powerpoint/2010/main" val="70660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BB06B-700B-61F1-F09C-6B5F2BA864F1}"/>
              </a:ext>
            </a:extLst>
          </p:cNvPr>
          <p:cNvSpPr>
            <a:spLocks noGrp="1"/>
          </p:cNvSpPr>
          <p:nvPr>
            <p:ph type="title"/>
          </p:nvPr>
        </p:nvSpPr>
        <p:spPr/>
        <p:txBody>
          <a:bodyPr/>
          <a:lstStyle/>
          <a:p>
            <a:r>
              <a:rPr lang="en-US" b="1" spc="-10" dirty="0">
                <a:effectLst/>
                <a:latin typeface="Times New Roman" panose="02020603050405020304" pitchFamily="18" charset="0"/>
                <a:ea typeface="Times New Roman" panose="02020603050405020304" pitchFamily="18" charset="0"/>
              </a:rPr>
              <a:t>Use-Case diagram</a:t>
            </a:r>
            <a:br>
              <a:rPr lang="en-IN" sz="1800" b="1" spc="0" dirty="0">
                <a:effectLst/>
                <a:latin typeface="Times New Roman" panose="02020603050405020304" pitchFamily="18" charset="0"/>
                <a:ea typeface="Times New Roman" panose="02020603050405020304" pitchFamily="18" charset="0"/>
              </a:rPr>
            </a:br>
            <a:endParaRPr lang="en-IN" dirty="0"/>
          </a:p>
        </p:txBody>
      </p:sp>
      <p:pic>
        <p:nvPicPr>
          <p:cNvPr id="4" name="Image 76" descr="A diagram of a diagram  AI-generated content may be incorrect.">
            <a:extLst>
              <a:ext uri="{FF2B5EF4-FFF2-40B4-BE49-F238E27FC236}">
                <a16:creationId xmlns:a16="http://schemas.microsoft.com/office/drawing/2014/main" id="{F9F96558-FA73-DBEB-C01A-7C9E1C06E92B}"/>
              </a:ext>
            </a:extLst>
          </p:cNvPr>
          <p:cNvPicPr>
            <a:picLocks noGrp="1"/>
          </p:cNvPicPr>
          <p:nvPr>
            <p:ph idx="1"/>
          </p:nvPr>
        </p:nvPicPr>
        <p:blipFill>
          <a:blip r:embed="rId2" cstate="print"/>
          <a:stretch>
            <a:fillRect/>
          </a:stretch>
        </p:blipFill>
        <p:spPr>
          <a:xfrm>
            <a:off x="3642329" y="1825625"/>
            <a:ext cx="4907342" cy="4351338"/>
          </a:xfrm>
          <a:prstGeom prst="rect">
            <a:avLst/>
          </a:prstGeom>
        </p:spPr>
      </p:pic>
    </p:spTree>
    <p:extLst>
      <p:ext uri="{BB962C8B-B14F-4D97-AF65-F5344CB8AC3E}">
        <p14:creationId xmlns:p14="http://schemas.microsoft.com/office/powerpoint/2010/main" val="3371555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0BD4-B8E6-D114-4B69-C6E271DD03AB}"/>
              </a:ext>
            </a:extLst>
          </p:cNvPr>
          <p:cNvSpPr>
            <a:spLocks noGrp="1"/>
          </p:cNvSpPr>
          <p:nvPr>
            <p:ph type="title"/>
          </p:nvPr>
        </p:nvSpPr>
        <p:spPr/>
        <p:txBody>
          <a:bodyPr/>
          <a:lstStyle/>
          <a:p>
            <a:r>
              <a:rPr lang="en-IN" b="1" dirty="0"/>
              <a:t>Data Flow Diagrams</a:t>
            </a:r>
          </a:p>
        </p:txBody>
      </p:sp>
      <p:sp>
        <p:nvSpPr>
          <p:cNvPr id="3" name="Content Placeholder 2">
            <a:extLst>
              <a:ext uri="{FF2B5EF4-FFF2-40B4-BE49-F238E27FC236}">
                <a16:creationId xmlns:a16="http://schemas.microsoft.com/office/drawing/2014/main" id="{43A04345-C680-098B-4DC5-074941F4AB72}"/>
              </a:ext>
            </a:extLst>
          </p:cNvPr>
          <p:cNvSpPr>
            <a:spLocks noGrp="1"/>
          </p:cNvSpPr>
          <p:nvPr>
            <p:ph idx="1"/>
          </p:nvPr>
        </p:nvSpPr>
        <p:spPr>
          <a:xfrm>
            <a:off x="824345" y="1825625"/>
            <a:ext cx="10515600" cy="4351338"/>
          </a:xfrm>
        </p:spPr>
        <p:txBody>
          <a:bodyPr/>
          <a:lstStyle/>
          <a:p>
            <a:r>
              <a:rPr lang="en-IN" dirty="0"/>
              <a:t>DFD Level – 0                                     DFD Level – 1</a:t>
            </a:r>
          </a:p>
          <a:p>
            <a:endParaRPr lang="en-IN" dirty="0"/>
          </a:p>
          <a:p>
            <a:pPr marL="0" indent="0">
              <a:buNone/>
            </a:pPr>
            <a:endParaRPr lang="en-IN" dirty="0"/>
          </a:p>
        </p:txBody>
      </p:sp>
      <p:pic>
        <p:nvPicPr>
          <p:cNvPr id="4" name="Image 57">
            <a:extLst>
              <a:ext uri="{FF2B5EF4-FFF2-40B4-BE49-F238E27FC236}">
                <a16:creationId xmlns:a16="http://schemas.microsoft.com/office/drawing/2014/main" id="{8C2AE51E-AD25-B3CF-DAD5-8BDCD0D02840}"/>
              </a:ext>
            </a:extLst>
          </p:cNvPr>
          <p:cNvPicPr>
            <a:picLocks/>
          </p:cNvPicPr>
          <p:nvPr/>
        </p:nvPicPr>
        <p:blipFill>
          <a:blip r:embed="rId2" cstate="print"/>
          <a:stretch>
            <a:fillRect/>
          </a:stretch>
        </p:blipFill>
        <p:spPr>
          <a:xfrm>
            <a:off x="1066801" y="2291556"/>
            <a:ext cx="5029200" cy="3687445"/>
          </a:xfrm>
          <a:prstGeom prst="rect">
            <a:avLst/>
          </a:prstGeom>
          <a:ln>
            <a:solidFill>
              <a:schemeClr val="tx1"/>
            </a:solidFill>
          </a:ln>
        </p:spPr>
      </p:pic>
      <p:pic>
        <p:nvPicPr>
          <p:cNvPr id="5" name="Image 63">
            <a:extLst>
              <a:ext uri="{FF2B5EF4-FFF2-40B4-BE49-F238E27FC236}">
                <a16:creationId xmlns:a16="http://schemas.microsoft.com/office/drawing/2014/main" id="{916CE110-0219-E801-A2B2-787756CF3C6D}"/>
              </a:ext>
            </a:extLst>
          </p:cNvPr>
          <p:cNvPicPr>
            <a:picLocks/>
          </p:cNvPicPr>
          <p:nvPr/>
        </p:nvPicPr>
        <p:blipFill>
          <a:blip r:embed="rId3" cstate="print"/>
          <a:stretch>
            <a:fillRect/>
          </a:stretch>
        </p:blipFill>
        <p:spPr>
          <a:xfrm>
            <a:off x="6372456" y="2291556"/>
            <a:ext cx="5362344" cy="3687445"/>
          </a:xfrm>
          <a:prstGeom prst="rect">
            <a:avLst/>
          </a:prstGeom>
          <a:ln>
            <a:solidFill>
              <a:schemeClr val="tx1"/>
            </a:solidFill>
          </a:ln>
        </p:spPr>
      </p:pic>
    </p:spTree>
    <p:extLst>
      <p:ext uri="{BB962C8B-B14F-4D97-AF65-F5344CB8AC3E}">
        <p14:creationId xmlns:p14="http://schemas.microsoft.com/office/powerpoint/2010/main" val="1032302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8663C-E64A-8D53-FF5E-55EFAD3FD9E1}"/>
              </a:ext>
            </a:extLst>
          </p:cNvPr>
          <p:cNvSpPr>
            <a:spLocks noGrp="1"/>
          </p:cNvSpPr>
          <p:nvPr>
            <p:ph type="title"/>
          </p:nvPr>
        </p:nvSpPr>
        <p:spPr/>
        <p:txBody>
          <a:bodyPr/>
          <a:lstStyle/>
          <a:p>
            <a:r>
              <a:rPr lang="en-IN" b="1" dirty="0"/>
              <a:t>Data Flow Diagrams</a:t>
            </a:r>
            <a:endParaRPr lang="en-IN" dirty="0"/>
          </a:p>
        </p:txBody>
      </p:sp>
      <p:sp>
        <p:nvSpPr>
          <p:cNvPr id="3" name="Content Placeholder 2">
            <a:extLst>
              <a:ext uri="{FF2B5EF4-FFF2-40B4-BE49-F238E27FC236}">
                <a16:creationId xmlns:a16="http://schemas.microsoft.com/office/drawing/2014/main" id="{93BAC611-8298-F639-956F-44F62110FF53}"/>
              </a:ext>
            </a:extLst>
          </p:cNvPr>
          <p:cNvSpPr>
            <a:spLocks noGrp="1"/>
          </p:cNvSpPr>
          <p:nvPr>
            <p:ph idx="1"/>
          </p:nvPr>
        </p:nvSpPr>
        <p:spPr/>
        <p:txBody>
          <a:bodyPr/>
          <a:lstStyle/>
          <a:p>
            <a:r>
              <a:rPr lang="en-IN" dirty="0"/>
              <a:t>DFD Level – 2</a:t>
            </a:r>
          </a:p>
          <a:p>
            <a:endParaRPr lang="en-IN" dirty="0"/>
          </a:p>
        </p:txBody>
      </p:sp>
      <p:pic>
        <p:nvPicPr>
          <p:cNvPr id="4" name="Image 64">
            <a:extLst>
              <a:ext uri="{FF2B5EF4-FFF2-40B4-BE49-F238E27FC236}">
                <a16:creationId xmlns:a16="http://schemas.microsoft.com/office/drawing/2014/main" id="{582E00B9-F65C-E8A0-A236-0CEDC2C2D37E}"/>
              </a:ext>
            </a:extLst>
          </p:cNvPr>
          <p:cNvPicPr>
            <a:picLocks/>
          </p:cNvPicPr>
          <p:nvPr/>
        </p:nvPicPr>
        <p:blipFill>
          <a:blip r:embed="rId2" cstate="print"/>
          <a:stretch>
            <a:fillRect/>
          </a:stretch>
        </p:blipFill>
        <p:spPr>
          <a:xfrm>
            <a:off x="3974089" y="1510145"/>
            <a:ext cx="5682529" cy="4419600"/>
          </a:xfrm>
          <a:prstGeom prst="rect">
            <a:avLst/>
          </a:prstGeom>
        </p:spPr>
      </p:pic>
    </p:spTree>
    <p:extLst>
      <p:ext uri="{BB962C8B-B14F-4D97-AF65-F5344CB8AC3E}">
        <p14:creationId xmlns:p14="http://schemas.microsoft.com/office/powerpoint/2010/main" val="2676757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5D32D-A4FB-3EBC-FF36-F92E5C8958A3}"/>
              </a:ext>
            </a:extLst>
          </p:cNvPr>
          <p:cNvSpPr>
            <a:spLocks noGrp="1"/>
          </p:cNvSpPr>
          <p:nvPr>
            <p:ph type="title"/>
          </p:nvPr>
        </p:nvSpPr>
        <p:spPr/>
        <p:txBody>
          <a:bodyPr/>
          <a:lstStyle/>
          <a:p>
            <a:r>
              <a:rPr lang="en-IN" b="1" dirty="0"/>
              <a:t>Flowchart</a:t>
            </a:r>
          </a:p>
        </p:txBody>
      </p:sp>
      <p:pic>
        <p:nvPicPr>
          <p:cNvPr id="4" name="Image 50">
            <a:extLst>
              <a:ext uri="{FF2B5EF4-FFF2-40B4-BE49-F238E27FC236}">
                <a16:creationId xmlns:a16="http://schemas.microsoft.com/office/drawing/2014/main" id="{A4A5EE9B-0832-D3D9-5C45-8B721FA745EC}"/>
              </a:ext>
            </a:extLst>
          </p:cNvPr>
          <p:cNvPicPr>
            <a:picLocks noGrp="1"/>
          </p:cNvPicPr>
          <p:nvPr>
            <p:ph idx="1"/>
          </p:nvPr>
        </p:nvPicPr>
        <p:blipFill>
          <a:blip r:embed="rId2" cstate="print"/>
          <a:stretch>
            <a:fillRect/>
          </a:stretch>
        </p:blipFill>
        <p:spPr>
          <a:xfrm>
            <a:off x="5223165" y="1825625"/>
            <a:ext cx="3089562" cy="4351338"/>
          </a:xfrm>
          <a:prstGeom prst="rect">
            <a:avLst/>
          </a:prstGeom>
        </p:spPr>
      </p:pic>
    </p:spTree>
    <p:extLst>
      <p:ext uri="{BB962C8B-B14F-4D97-AF65-F5344CB8AC3E}">
        <p14:creationId xmlns:p14="http://schemas.microsoft.com/office/powerpoint/2010/main" val="4282999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BFD8-DB80-38FC-9FFB-F8139EF5909A}"/>
              </a:ext>
            </a:extLst>
          </p:cNvPr>
          <p:cNvSpPr>
            <a:spLocks noGrp="1"/>
          </p:cNvSpPr>
          <p:nvPr>
            <p:ph type="title"/>
          </p:nvPr>
        </p:nvSpPr>
        <p:spPr/>
        <p:txBody>
          <a:bodyPr/>
          <a:lstStyle/>
          <a:p>
            <a:r>
              <a:rPr lang="en-IN" b="1" dirty="0"/>
              <a:t>Sequence Diagram</a:t>
            </a:r>
          </a:p>
        </p:txBody>
      </p:sp>
      <p:pic>
        <p:nvPicPr>
          <p:cNvPr id="4" name="Image 65">
            <a:extLst>
              <a:ext uri="{FF2B5EF4-FFF2-40B4-BE49-F238E27FC236}">
                <a16:creationId xmlns:a16="http://schemas.microsoft.com/office/drawing/2014/main" id="{5122289E-D8A1-BE1F-F439-FD07EDCEFFAD}"/>
              </a:ext>
            </a:extLst>
          </p:cNvPr>
          <p:cNvPicPr>
            <a:picLocks noGrp="1"/>
          </p:cNvPicPr>
          <p:nvPr>
            <p:ph idx="1"/>
          </p:nvPr>
        </p:nvPicPr>
        <p:blipFill>
          <a:blip r:embed="rId2" cstate="print"/>
          <a:stretch>
            <a:fillRect/>
          </a:stretch>
        </p:blipFill>
        <p:spPr>
          <a:xfrm>
            <a:off x="3283527" y="1853406"/>
            <a:ext cx="5486400" cy="4295775"/>
          </a:xfrm>
          <a:prstGeom prst="rect">
            <a:avLst/>
          </a:prstGeom>
        </p:spPr>
      </p:pic>
    </p:spTree>
    <p:extLst>
      <p:ext uri="{BB962C8B-B14F-4D97-AF65-F5344CB8AC3E}">
        <p14:creationId xmlns:p14="http://schemas.microsoft.com/office/powerpoint/2010/main" val="4245681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ACD9-7A4B-21F5-CBE8-92BE318104AA}"/>
              </a:ext>
            </a:extLst>
          </p:cNvPr>
          <p:cNvSpPr>
            <a:spLocks noGrp="1"/>
          </p:cNvSpPr>
          <p:nvPr>
            <p:ph type="title"/>
          </p:nvPr>
        </p:nvSpPr>
        <p:spPr/>
        <p:txBody>
          <a:bodyPr/>
          <a:lstStyle/>
          <a:p>
            <a:r>
              <a:rPr lang="en-IN" dirty="0"/>
              <a:t>ER Diagram</a:t>
            </a:r>
          </a:p>
        </p:txBody>
      </p:sp>
      <p:pic>
        <p:nvPicPr>
          <p:cNvPr id="4" name="Image 73">
            <a:extLst>
              <a:ext uri="{FF2B5EF4-FFF2-40B4-BE49-F238E27FC236}">
                <a16:creationId xmlns:a16="http://schemas.microsoft.com/office/drawing/2014/main" id="{97815552-C6C2-D1EE-C544-82D3D8F91A27}"/>
              </a:ext>
            </a:extLst>
          </p:cNvPr>
          <p:cNvPicPr>
            <a:picLocks noGrp="1"/>
          </p:cNvPicPr>
          <p:nvPr>
            <p:ph idx="1"/>
          </p:nvPr>
        </p:nvPicPr>
        <p:blipFill>
          <a:blip r:embed="rId2" cstate="print"/>
          <a:stretch>
            <a:fillRect/>
          </a:stretch>
        </p:blipFill>
        <p:spPr>
          <a:xfrm>
            <a:off x="2180792" y="1690688"/>
            <a:ext cx="7101753" cy="4219575"/>
          </a:xfrm>
          <a:prstGeom prst="rect">
            <a:avLst/>
          </a:prstGeom>
        </p:spPr>
      </p:pic>
    </p:spTree>
    <p:extLst>
      <p:ext uri="{BB962C8B-B14F-4D97-AF65-F5344CB8AC3E}">
        <p14:creationId xmlns:p14="http://schemas.microsoft.com/office/powerpoint/2010/main" val="129952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Technologies Used</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p:txBody>
          <a:bodyPr>
            <a:normAutofit/>
          </a:bodyPr>
          <a:lstStyle/>
          <a:p>
            <a:r>
              <a:rPr lang="en-US" b="1" dirty="0"/>
              <a:t>Programming Languages:</a:t>
            </a:r>
            <a:r>
              <a:rPr lang="en-US" dirty="0"/>
              <a:t> Python, SQL(for database management)</a:t>
            </a:r>
          </a:p>
          <a:p>
            <a:r>
              <a:rPr lang="en-US" b="1" dirty="0"/>
              <a:t>Code Editor:</a:t>
            </a:r>
            <a:r>
              <a:rPr lang="en-US" dirty="0"/>
              <a:t> </a:t>
            </a:r>
            <a:r>
              <a:rPr lang="en-US" dirty="0" err="1"/>
              <a:t>Jupyter</a:t>
            </a:r>
            <a:r>
              <a:rPr lang="en-US" dirty="0"/>
              <a:t> Notebook, VS Code</a:t>
            </a:r>
          </a:p>
          <a:p>
            <a:pPr marL="0" indent="0">
              <a:buNone/>
            </a:pPr>
            <a:endParaRPr lang="en-US" dirty="0"/>
          </a:p>
          <a:p>
            <a:r>
              <a:rPr lang="en-US" b="1" dirty="0"/>
              <a:t>Technology Used in Business Contract Validation Project</a:t>
            </a:r>
            <a:r>
              <a:rPr lang="en-US" dirty="0"/>
              <a:t>:</a:t>
            </a:r>
          </a:p>
          <a:p>
            <a:pPr lvl="1" algn="just"/>
            <a:r>
              <a:rPr lang="en-US" dirty="0"/>
              <a:t>Frontend: HTML, CSS, JavaScript	</a:t>
            </a:r>
          </a:p>
          <a:p>
            <a:pPr lvl="1" algn="just"/>
            <a:r>
              <a:rPr lang="en-US" dirty="0"/>
              <a:t>Backend: Flask (API &amp; Integration)	</a:t>
            </a:r>
          </a:p>
          <a:p>
            <a:pPr lvl="1" algn="just"/>
            <a:r>
              <a:rPr lang="en-US" dirty="0"/>
              <a:t>Backend Processing: </a:t>
            </a:r>
            <a:r>
              <a:rPr lang="en-US" dirty="0" err="1"/>
              <a:t>Jupyter</a:t>
            </a:r>
            <a:r>
              <a:rPr lang="en-US" dirty="0"/>
              <a:t> Notebook	</a:t>
            </a:r>
          </a:p>
          <a:p>
            <a:pPr lvl="1" algn="just"/>
            <a:r>
              <a:rPr lang="en-US" dirty="0"/>
              <a:t>Database: Microsoft SQL Server	</a:t>
            </a:r>
          </a:p>
          <a:p>
            <a:pPr lvl="1" algn="just"/>
            <a:r>
              <a:rPr lang="en-US" dirty="0"/>
              <a:t>Libraries Used: OpenCV, </a:t>
            </a:r>
            <a:r>
              <a:rPr lang="en-US" dirty="0" err="1"/>
              <a:t>Pytesseract</a:t>
            </a:r>
            <a:r>
              <a:rPr lang="en-US" dirty="0"/>
              <a:t>, Regular Expressions (re), NLP</a:t>
            </a:r>
          </a:p>
        </p:txBody>
      </p:sp>
    </p:spTree>
    <p:extLst>
      <p:ext uri="{BB962C8B-B14F-4D97-AF65-F5344CB8AC3E}">
        <p14:creationId xmlns:p14="http://schemas.microsoft.com/office/powerpoint/2010/main" val="3720387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Key Responsibilities</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6096000" y="1815824"/>
            <a:ext cx="5363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a:xfrm>
            <a:off x="838200" y="1815824"/>
            <a:ext cx="10515600" cy="4361139"/>
          </a:xfrm>
        </p:spPr>
        <p:txBody>
          <a:bodyPr>
            <a:normAutofit fontScale="92500" lnSpcReduction="10000"/>
          </a:bodyPr>
          <a:lstStyle/>
          <a:p>
            <a:pPr algn="just">
              <a:buFont typeface="Arial" panose="020B0604020202020204" pitchFamily="34" charset="0"/>
              <a:buChar char="•"/>
            </a:pPr>
            <a:r>
              <a:rPr lang="en-US" b="1" dirty="0"/>
              <a:t>Key Responsibilities in Business Contract Validation Project	</a:t>
            </a:r>
          </a:p>
          <a:p>
            <a:pPr lvl="1" algn="just"/>
            <a:r>
              <a:rPr lang="en-US" dirty="0"/>
              <a:t>Data Collection &amp; Preprocessing – Gather contract documents, clean text data, and prepare it for analysis.	</a:t>
            </a:r>
          </a:p>
          <a:p>
            <a:pPr lvl="1" algn="just"/>
            <a:r>
              <a:rPr lang="en-US" dirty="0"/>
              <a:t>Natural Language Processing (NLP) Implementation – Use NLP techniques to extract key contract terms and clauses.	</a:t>
            </a:r>
          </a:p>
          <a:p>
            <a:pPr lvl="1" algn="just"/>
            <a:r>
              <a:rPr lang="en-US" dirty="0"/>
              <a:t>Error &amp; Risk Detection – Identify inconsistencies, missing clauses, and potential legal risks.	</a:t>
            </a:r>
          </a:p>
          <a:p>
            <a:pPr lvl="1" algn="just"/>
            <a:r>
              <a:rPr lang="en-US" dirty="0"/>
              <a:t>Machine Learning Model Development – Train models to classify contracts and detect anomalies.		</a:t>
            </a:r>
          </a:p>
          <a:p>
            <a:pPr lvl="1" algn="just"/>
            <a:r>
              <a:rPr lang="en-US" dirty="0"/>
              <a:t>Testing &amp; Validation – Ensure the system provides accurate and reliable contract analysis results.	</a:t>
            </a:r>
          </a:p>
          <a:p>
            <a:pPr lvl="1" algn="just"/>
            <a:r>
              <a:rPr lang="en-US" dirty="0"/>
              <a:t>Reporting &amp; Visualization – Present findings using dashboards or reports for easy interpretation.</a:t>
            </a:r>
          </a:p>
        </p:txBody>
      </p:sp>
    </p:spTree>
    <p:extLst>
      <p:ext uri="{BB962C8B-B14F-4D97-AF65-F5344CB8AC3E}">
        <p14:creationId xmlns:p14="http://schemas.microsoft.com/office/powerpoint/2010/main" val="799829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Challenges and Solutions</a:t>
            </a:r>
          </a:p>
        </p:txBody>
      </p:sp>
      <p:graphicFrame>
        <p:nvGraphicFramePr>
          <p:cNvPr id="3" name="Table 2"/>
          <p:cNvGraphicFramePr>
            <a:graphicFrameLocks noGrp="1"/>
          </p:cNvGraphicFramePr>
          <p:nvPr/>
        </p:nvGraphicFramePr>
        <p:xfrm>
          <a:off x="457200" y="1371600"/>
          <a:ext cx="8229600" cy="4114800"/>
        </p:xfrm>
        <a:graphic>
          <a:graphicData uri="http://schemas.openxmlformats.org/drawingml/2006/table">
            <a:tbl>
              <a:tblPr firstRow="1" bandRow="1">
                <a:tableStyleId>{5C22544A-7EE6-4342-B048-85BDC9FD1C3A}</a:tableStyleId>
              </a:tblPr>
              <a:tblGrid>
                <a:gridCol w="4114800"/>
                <a:gridCol w="4114800"/>
              </a:tblGrid>
              <a:tr h="685800">
                <a:tc>
                  <a:txBody>
                    <a:bodyPr/>
                    <a:lstStyle/>
                    <a:p>
                      <a:r>
                        <a:rPr sz="1200">
                          <a:latin typeface="Calibri"/>
                        </a:rPr>
                        <a:t>Challenge</a:t>
                      </a:r>
                    </a:p>
                  </a:txBody>
                  <a:tcPr/>
                </a:tc>
                <a:tc>
                  <a:txBody>
                    <a:bodyPr/>
                    <a:lstStyle/>
                    <a:p>
                      <a:r>
                        <a:rPr sz="1200">
                          <a:latin typeface="Calibri"/>
                        </a:rPr>
                        <a:t>Solution</a:t>
                      </a:r>
                    </a:p>
                  </a:txBody>
                  <a:tcPr/>
                </a:tc>
              </a:tr>
              <a:tr h="685800">
                <a:tc>
                  <a:txBody>
                    <a:bodyPr/>
                    <a:lstStyle/>
                    <a:p>
                      <a:r>
                        <a:rPr sz="1200">
                          <a:latin typeface="Calibri"/>
                        </a:rPr>
                        <a:t>Understanding complex contract language</a:t>
                      </a:r>
                    </a:p>
                  </a:txBody>
                  <a:tcPr/>
                </a:tc>
                <a:tc>
                  <a:txBody>
                    <a:bodyPr/>
                    <a:lstStyle/>
                    <a:p>
                      <a:r>
                        <a:rPr sz="1200">
                          <a:latin typeface="Calibri"/>
                        </a:rPr>
                        <a:t>Used basic NLP techniques to extract key terms and clauses</a:t>
                      </a:r>
                    </a:p>
                  </a:txBody>
                  <a:tcPr/>
                </a:tc>
              </a:tr>
              <a:tr h="685800">
                <a:tc>
                  <a:txBody>
                    <a:bodyPr/>
                    <a:lstStyle/>
                    <a:p>
                      <a:r>
                        <a:rPr sz="1200">
                          <a:latin typeface="Calibri"/>
                        </a:rPr>
                        <a:t>Different formats (PDF, scanned, text)</a:t>
                      </a:r>
                    </a:p>
                  </a:txBody>
                  <a:tcPr/>
                </a:tc>
                <a:tc>
                  <a:txBody>
                    <a:bodyPr/>
                    <a:lstStyle/>
                    <a:p>
                      <a:r>
                        <a:rPr sz="1200">
                          <a:latin typeface="Calibri"/>
                        </a:rPr>
                        <a:t>Applied OCR (Tesseract) to extract text from images</a:t>
                      </a:r>
                    </a:p>
                  </a:txBody>
                  <a:tcPr/>
                </a:tc>
              </a:tr>
              <a:tr h="685800">
                <a:tc>
                  <a:txBody>
                    <a:bodyPr/>
                    <a:lstStyle/>
                    <a:p>
                      <a:r>
                        <a:rPr sz="1200">
                          <a:latin typeface="Calibri"/>
                        </a:rPr>
                        <a:t>Identifying missing or incorrect clauses</a:t>
                      </a:r>
                    </a:p>
                  </a:txBody>
                  <a:tcPr/>
                </a:tc>
                <a:tc>
                  <a:txBody>
                    <a:bodyPr/>
                    <a:lstStyle/>
                    <a:p>
                      <a:r>
                        <a:rPr sz="1200">
                          <a:latin typeface="Calibri"/>
                        </a:rPr>
                        <a:t>Compared with a predefined clause checklist</a:t>
                      </a:r>
                    </a:p>
                  </a:txBody>
                  <a:tcPr/>
                </a:tc>
              </a:tr>
              <a:tr h="685800">
                <a:tc>
                  <a:txBody>
                    <a:bodyPr/>
                    <a:lstStyle/>
                    <a:p>
                      <a:r>
                        <a:rPr sz="1200">
                          <a:latin typeface="Calibri"/>
                        </a:rPr>
                        <a:t>Ensuring accurate results</a:t>
                      </a:r>
                    </a:p>
                  </a:txBody>
                  <a:tcPr/>
                </a:tc>
                <a:tc>
                  <a:txBody>
                    <a:bodyPr/>
                    <a:lstStyle/>
                    <a:p>
                      <a:r>
                        <a:rPr sz="1200">
                          <a:latin typeface="Calibri"/>
                        </a:rPr>
                        <a:t>Started with rule-based logic, then introduced ML for accuracy</a:t>
                      </a:r>
                    </a:p>
                  </a:txBody>
                  <a:tcPr/>
                </a:tc>
              </a:tr>
              <a:tr h="685800">
                <a:tc>
                  <a:txBody>
                    <a:bodyPr/>
                    <a:lstStyle/>
                    <a:p>
                      <a:r>
                        <a:rPr sz="1200">
                          <a:latin typeface="Calibri"/>
                        </a:rPr>
                        <a:t>Handling large data</a:t>
                      </a:r>
                    </a:p>
                  </a:txBody>
                  <a:tcPr/>
                </a:tc>
                <a:tc>
                  <a:txBody>
                    <a:bodyPr/>
                    <a:lstStyle/>
                    <a:p>
                      <a:r>
                        <a:rPr sz="1200">
                          <a:latin typeface="Calibri"/>
                        </a:rPr>
                        <a:t>Used Python and Pandas for efficient data processing</a:t>
                      </a:r>
                    </a:p>
                  </a:txBody>
                  <a:tcPr/>
                </a:tc>
              </a:tr>
            </a:tbl>
          </a:graphicData>
        </a:graphic>
      </p:graphicFrame>
    </p:spTree>
    <p:extLst>
      <p:ext uri="{BB962C8B-B14F-4D97-AF65-F5344CB8AC3E}">
        <p14:creationId xmlns:p14="http://schemas.microsoft.com/office/powerpoint/2010/main" val="2596496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BB036-F3DE-1689-4CC8-BADAE733CBC9}"/>
              </a:ext>
            </a:extLst>
          </p:cNvPr>
          <p:cNvSpPr>
            <a:spLocks noGrp="1"/>
          </p:cNvSpPr>
          <p:nvPr>
            <p:ph type="title"/>
          </p:nvPr>
        </p:nvSpPr>
        <p:spPr/>
        <p:txBody>
          <a:bodyPr/>
          <a:lstStyle/>
          <a:p>
            <a:r>
              <a:rPr lang="en-IN" dirty="0"/>
              <a:t>Diagrams</a:t>
            </a:r>
          </a:p>
        </p:txBody>
      </p:sp>
      <p:pic>
        <p:nvPicPr>
          <p:cNvPr id="7" name="Content Placeholder 6">
            <a:extLst>
              <a:ext uri="{FF2B5EF4-FFF2-40B4-BE49-F238E27FC236}">
                <a16:creationId xmlns:a16="http://schemas.microsoft.com/office/drawing/2014/main" id="{15D1DEE2-6860-3375-81E1-86819B7197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6256" y="1825625"/>
            <a:ext cx="7610472" cy="4351338"/>
          </a:xfrm>
        </p:spPr>
      </p:pic>
    </p:spTree>
    <p:extLst>
      <p:ext uri="{BB962C8B-B14F-4D97-AF65-F5344CB8AC3E}">
        <p14:creationId xmlns:p14="http://schemas.microsoft.com/office/powerpoint/2010/main" val="82231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0525-C6C9-E983-EB24-FBF74D586610}"/>
              </a:ext>
            </a:extLst>
          </p:cNvPr>
          <p:cNvSpPr>
            <a:spLocks noGrp="1"/>
          </p:cNvSpPr>
          <p:nvPr>
            <p:ph type="title"/>
          </p:nvPr>
        </p:nvSpPr>
        <p:spPr/>
        <p:txBody>
          <a:bodyPr/>
          <a:lstStyle/>
          <a:p>
            <a:r>
              <a:rPr lang="en-IN" dirty="0"/>
              <a:t>Diagrams</a:t>
            </a:r>
          </a:p>
        </p:txBody>
      </p:sp>
      <p:pic>
        <p:nvPicPr>
          <p:cNvPr id="7" name="Content Placeholder 6">
            <a:extLst>
              <a:ext uri="{FF2B5EF4-FFF2-40B4-BE49-F238E27FC236}">
                <a16:creationId xmlns:a16="http://schemas.microsoft.com/office/drawing/2014/main" id="{4807CE36-7BBA-7DE6-AA7F-C7002AE7BC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6255" y="1825625"/>
            <a:ext cx="7739489" cy="4351338"/>
          </a:xfrm>
        </p:spPr>
      </p:pic>
    </p:spTree>
    <p:extLst>
      <p:ext uri="{BB962C8B-B14F-4D97-AF65-F5344CB8AC3E}">
        <p14:creationId xmlns:p14="http://schemas.microsoft.com/office/powerpoint/2010/main" val="3709434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BC77B-E1D4-47BB-F502-B98E980F8AFC}"/>
              </a:ext>
            </a:extLst>
          </p:cNvPr>
          <p:cNvSpPr>
            <a:spLocks noGrp="1"/>
          </p:cNvSpPr>
          <p:nvPr>
            <p:ph type="title"/>
          </p:nvPr>
        </p:nvSpPr>
        <p:spPr/>
        <p:txBody>
          <a:bodyPr/>
          <a:lstStyle/>
          <a:p>
            <a:r>
              <a:rPr lang="en-IN" dirty="0"/>
              <a:t>Diagrams</a:t>
            </a:r>
          </a:p>
        </p:txBody>
      </p:sp>
      <p:pic>
        <p:nvPicPr>
          <p:cNvPr id="7" name="Content Placeholder 6">
            <a:extLst>
              <a:ext uri="{FF2B5EF4-FFF2-40B4-BE49-F238E27FC236}">
                <a16:creationId xmlns:a16="http://schemas.microsoft.com/office/drawing/2014/main" id="{6C8A11A7-A37A-5D11-83BA-73343814E3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6255" y="1825625"/>
            <a:ext cx="7739489" cy="4351338"/>
          </a:xfrm>
        </p:spPr>
      </p:pic>
    </p:spTree>
    <p:extLst>
      <p:ext uri="{BB962C8B-B14F-4D97-AF65-F5344CB8AC3E}">
        <p14:creationId xmlns:p14="http://schemas.microsoft.com/office/powerpoint/2010/main" val="4255316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F3EB2-5765-B14C-64F5-5A828D6163EF}"/>
              </a:ext>
            </a:extLst>
          </p:cNvPr>
          <p:cNvSpPr>
            <a:spLocks noGrp="1"/>
          </p:cNvSpPr>
          <p:nvPr>
            <p:ph type="title"/>
          </p:nvPr>
        </p:nvSpPr>
        <p:spPr/>
        <p:txBody>
          <a:bodyPr/>
          <a:lstStyle/>
          <a:p>
            <a:r>
              <a:rPr lang="en-IN" b="1" dirty="0"/>
              <a:t>Project Demonstration</a:t>
            </a:r>
          </a:p>
        </p:txBody>
      </p:sp>
      <p:pic>
        <p:nvPicPr>
          <p:cNvPr id="4" name="Contract Validator - Profile 1 - Microsoft​ Edge 2025-04-16 18-44-17">
            <a:hlinkClick r:id="" action="ppaction://media"/>
            <a:extLst>
              <a:ext uri="{FF2B5EF4-FFF2-40B4-BE49-F238E27FC236}">
                <a16:creationId xmlns:a16="http://schemas.microsoft.com/office/drawing/2014/main" id="{BB6FA35A-C843-7618-3191-74AD79EEF50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982788" y="1825625"/>
            <a:ext cx="8224837" cy="4351338"/>
          </a:xfrm>
        </p:spPr>
      </p:pic>
    </p:spTree>
    <p:extLst>
      <p:ext uri="{BB962C8B-B14F-4D97-AF65-F5344CB8AC3E}">
        <p14:creationId xmlns:p14="http://schemas.microsoft.com/office/powerpoint/2010/main" val="288604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43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B49B-E97D-583D-21F2-2E6164916F8C}"/>
              </a:ext>
            </a:extLst>
          </p:cNvPr>
          <p:cNvSpPr>
            <a:spLocks noGrp="1"/>
          </p:cNvSpPr>
          <p:nvPr>
            <p:ph type="title"/>
          </p:nvPr>
        </p:nvSpPr>
        <p:spPr>
          <a:xfrm>
            <a:off x="838200" y="365126"/>
            <a:ext cx="10515600" cy="946840"/>
          </a:xfrm>
        </p:spPr>
        <p:txBody>
          <a:bodyPr/>
          <a:lstStyle/>
          <a:p>
            <a:r>
              <a:rPr lang="en-IN" b="1" dirty="0"/>
              <a:t>Conclusion and Learnings</a:t>
            </a:r>
            <a:endParaRPr lang="en-IN" b="1" dirty="0">
              <a:latin typeface="Cambria" panose="02040503050406030204" pitchFamily="18" charset="0"/>
              <a:ea typeface="Cambria" panose="02040503050406030204" pitchFamily="18" charset="0"/>
            </a:endParaRPr>
          </a:p>
        </p:txBody>
      </p:sp>
      <p:sp>
        <p:nvSpPr>
          <p:cNvPr id="4" name="Content Placeholder 2">
            <a:extLst>
              <a:ext uri="{FF2B5EF4-FFF2-40B4-BE49-F238E27FC236}">
                <a16:creationId xmlns:a16="http://schemas.microsoft.com/office/drawing/2014/main" id="{B960ADB7-8DF6-DA39-EBE7-C43D14D825F2}"/>
              </a:ext>
            </a:extLst>
          </p:cNvPr>
          <p:cNvSpPr txBox="1">
            <a:spLocks/>
          </p:cNvSpPr>
          <p:nvPr/>
        </p:nvSpPr>
        <p:spPr>
          <a:xfrm>
            <a:off x="838200" y="1815824"/>
            <a:ext cx="106216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Content Placeholder 5">
            <a:extLst>
              <a:ext uri="{FF2B5EF4-FFF2-40B4-BE49-F238E27FC236}">
                <a16:creationId xmlns:a16="http://schemas.microsoft.com/office/drawing/2014/main" id="{4CFA0986-6A76-F3CA-1654-CFE72E90DEB2}"/>
              </a:ext>
            </a:extLst>
          </p:cNvPr>
          <p:cNvSpPr>
            <a:spLocks noGrp="1"/>
          </p:cNvSpPr>
          <p:nvPr>
            <p:ph idx="1"/>
          </p:nvPr>
        </p:nvSpPr>
        <p:spPr>
          <a:xfrm>
            <a:off x="838200" y="1815824"/>
            <a:ext cx="10515600" cy="4361139"/>
          </a:xfrm>
        </p:spPr>
        <p:txBody>
          <a:bodyPr>
            <a:normAutofit/>
          </a:bodyPr>
          <a:lstStyle/>
          <a:p>
            <a:pPr lvl="1" algn="just">
              <a:lnSpc>
                <a:spcPct val="100000"/>
              </a:lnSpc>
            </a:pPr>
            <a:r>
              <a:rPr lang="en-US" dirty="0"/>
              <a:t>Automated contract validation improves accuracy, reduces manual effort, and enhances decision-making.</a:t>
            </a:r>
          </a:p>
          <a:p>
            <a:pPr lvl="1" algn="just">
              <a:lnSpc>
                <a:spcPct val="100000"/>
              </a:lnSpc>
            </a:pPr>
            <a:r>
              <a:rPr lang="en-US" dirty="0"/>
              <a:t>NLP and machine learning help detect inconsistencies, missing clauses, and legal risks in contracts.	</a:t>
            </a:r>
          </a:p>
          <a:p>
            <a:pPr lvl="1" algn="just">
              <a:lnSpc>
                <a:spcPct val="100000"/>
              </a:lnSpc>
            </a:pPr>
            <a:r>
              <a:rPr lang="en-US" dirty="0"/>
              <a:t>OCR and text processing are essential for handling scanned and unstructured legal documents.	</a:t>
            </a:r>
          </a:p>
          <a:p>
            <a:pPr lvl="1" algn="just">
              <a:lnSpc>
                <a:spcPct val="100000"/>
              </a:lnSpc>
            </a:pPr>
            <a:r>
              <a:rPr lang="en-US" dirty="0"/>
              <a:t>AI-driven techniques address challenges like format variability and improve contract validation efficiency.	</a:t>
            </a:r>
          </a:p>
          <a:p>
            <a:pPr lvl="1" algn="just">
              <a:lnSpc>
                <a:spcPct val="100000"/>
              </a:lnSpc>
            </a:pPr>
            <a:r>
              <a:rPr lang="en-US" dirty="0"/>
              <a:t>Balancing automation with human oversight ensures higher accuracy and reliability in contract analysis.</a:t>
            </a:r>
            <a:endParaRPr lang="en-IN" dirty="0"/>
          </a:p>
        </p:txBody>
      </p:sp>
    </p:spTree>
    <p:extLst>
      <p:ext uri="{BB962C8B-B14F-4D97-AF65-F5344CB8AC3E}">
        <p14:creationId xmlns:p14="http://schemas.microsoft.com/office/powerpoint/2010/main" val="15920917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s for following me | Thank you wallpaper, Thank you ...">
            <a:extLst>
              <a:ext uri="{FF2B5EF4-FFF2-40B4-BE49-F238E27FC236}">
                <a16:creationId xmlns:a16="http://schemas.microsoft.com/office/drawing/2014/main" id="{7740D1A8-0F67-69C9-E79D-7A6D977B1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58" y="359952"/>
            <a:ext cx="9594883" cy="5760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789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CD99B64834304B8B2FC074A6C6D16B" ma:contentTypeVersion="14" ma:contentTypeDescription="Create a new document." ma:contentTypeScope="" ma:versionID="e806ebc2de3175989a8b5755071031ae">
  <xsd:schema xmlns:xsd="http://www.w3.org/2001/XMLSchema" xmlns:xs="http://www.w3.org/2001/XMLSchema" xmlns:p="http://schemas.microsoft.com/office/2006/metadata/properties" xmlns:ns3="ddab863d-4cc3-4a7b-971b-b1570fbeb79e" xmlns:ns4="79d68886-3380-495d-8603-44371a71ec95" targetNamespace="http://schemas.microsoft.com/office/2006/metadata/properties" ma:root="true" ma:fieldsID="75d98b6cb32f0aaeaf28d139adeb3ac2" ns3:_="" ns4:_="">
    <xsd:import namespace="ddab863d-4cc3-4a7b-971b-b1570fbeb79e"/>
    <xsd:import namespace="79d68886-3380-495d-8603-44371a71ec9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ab863d-4cc3-4a7b-971b-b1570fbeb7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9d68886-3380-495d-8603-44371a71ec95"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06B031-D34F-4578-A882-88E3340053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dab863d-4cc3-4a7b-971b-b1570fbeb79e"/>
    <ds:schemaRef ds:uri="79d68886-3380-495d-8603-44371a71ec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CEF6FB-40F5-4A60-926B-010A77373AD6}">
  <ds:schemaRefs>
    <ds:schemaRef ds:uri="http://schemas.microsoft.com/office/2006/metadata/properties"/>
    <ds:schemaRef ds:uri="http://schemas.microsoft.com/office/infopath/2007/PartnerControls"/>
    <ds:schemaRef ds:uri="http://www.w3.org/XML/1998/namespace"/>
    <ds:schemaRef ds:uri="http://purl.org/dc/elements/1.1/"/>
    <ds:schemaRef ds:uri="http://schemas.microsoft.com/office/2006/documentManagement/types"/>
    <ds:schemaRef ds:uri="http://purl.org/dc/dcmitype/"/>
    <ds:schemaRef ds:uri="http://schemas.openxmlformats.org/package/2006/metadata/core-properties"/>
    <ds:schemaRef ds:uri="79d68886-3380-495d-8603-44371a71ec95"/>
    <ds:schemaRef ds:uri="ddab863d-4cc3-4a7b-971b-b1570fbeb79e"/>
    <ds:schemaRef ds:uri="http://purl.org/dc/terms/"/>
  </ds:schemaRefs>
</ds:datastoreItem>
</file>

<file path=customXml/itemProps3.xml><?xml version="1.0" encoding="utf-8"?>
<ds:datastoreItem xmlns:ds="http://schemas.openxmlformats.org/officeDocument/2006/customXml" ds:itemID="{486FDAED-0450-428F-9201-9A623A5F5A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3380</TotalTime>
  <Words>1084</Words>
  <Application>Microsoft Office PowerPoint</Application>
  <PresentationFormat>Widescreen</PresentationFormat>
  <Paragraphs>127</Paragraphs>
  <Slides>25</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Cambria</vt:lpstr>
      <vt:lpstr>Times New Roman</vt:lpstr>
      <vt:lpstr>Wingdings</vt:lpstr>
      <vt:lpstr>Office Theme</vt:lpstr>
      <vt:lpstr>Business Contract Validation</vt:lpstr>
      <vt:lpstr>Student  Details</vt:lpstr>
      <vt:lpstr>Index</vt:lpstr>
      <vt:lpstr>Introduction</vt:lpstr>
      <vt:lpstr>Company Overview</vt:lpstr>
      <vt:lpstr>Project Overview</vt:lpstr>
      <vt:lpstr>Project Overview</vt:lpstr>
      <vt:lpstr>Project Overview</vt:lpstr>
      <vt:lpstr>Project Overview</vt:lpstr>
      <vt:lpstr>System Architecture Overview </vt:lpstr>
      <vt:lpstr>Use-Case diagram </vt:lpstr>
      <vt:lpstr>Data Flow Diagrams</vt:lpstr>
      <vt:lpstr>Data Flow Diagrams</vt:lpstr>
      <vt:lpstr>Flowchart</vt:lpstr>
      <vt:lpstr>Sequence Diagram</vt:lpstr>
      <vt:lpstr>ER Diagram</vt:lpstr>
      <vt:lpstr>Technologies Used</vt:lpstr>
      <vt:lpstr>Key Responsibilities</vt:lpstr>
      <vt:lpstr>Challenges and Solutions</vt:lpstr>
      <vt:lpstr>Diagrams</vt:lpstr>
      <vt:lpstr>Diagrams</vt:lpstr>
      <vt:lpstr>Diagrams</vt:lpstr>
      <vt:lpstr>Project Demonstration</vt:lpstr>
      <vt:lpstr>Conclusion and Learnings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dc:title>
  <dc:creator>all</dc:creator>
  <cp:lastModifiedBy>12102080601054</cp:lastModifiedBy>
  <cp:revision>98</cp:revision>
  <dcterms:created xsi:type="dcterms:W3CDTF">2022-12-01T06:39:07Z</dcterms:created>
  <dcterms:modified xsi:type="dcterms:W3CDTF">2025-05-02T08:27:18Z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0x01010041CD99B64834304B8B2FC074A6C6D16B</vt:lpwstr>
  </property>
</Properties>
</file>